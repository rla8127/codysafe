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7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5500" y="1278235"/>
            <a:ext cx="11160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코디세이 AI 해커톤 2026 · 주제 02 AI 기반 정보보호 서비스 · 팀 유레카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5500" y="1811635"/>
            <a:ext cx="11160760" cy="237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전화를 끊은 뒤,</a:t>
            </a:r>
            <a:endParaRPr lang="en-US" sz="5200" dirty="0"/>
          </a:p>
          <a:p>
            <a:pPr algn="l" indent="0" marL="0">
              <a:lnSpc>
                <a:spcPts val="624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가족과 함께</a:t>
            </a:r>
            <a:endParaRPr lang="en-US" sz="5200" dirty="0"/>
          </a:p>
          <a:p>
            <a:pPr algn="l" indent="0" marL="0">
              <a:lnSpc>
                <a:spcPts val="624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막습니다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5500" y="4417616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사기는 백신처럼 미리 겪어 보고, 의심 통화가 오면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가족과 함께 돈부터 멈추는 서비스 CodySafe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5500" y="5255816"/>
            <a:ext cx="11160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김병국 · 김동현 · 김호연 · 유상우 · 전선형</a:t>
            </a:r>
            <a:endParaRPr lang="en-US" sz="1300" dirty="0"/>
          </a:p>
        </p:txBody>
      </p:sp>
      <p:pic>
        <p:nvPicPr>
          <p:cNvPr id="6" name="Image 0" descr="앱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0" y="2376190"/>
            <a:ext cx="3556000" cy="3529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ⓐ 문제 정의 및 목표 사용자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9207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사기범은 “아무에게도 말하지 마세요”라고 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000" y="1641475"/>
            <a:ext cx="5477768" cy="3873500"/>
          </a:xfrm>
          <a:prstGeom prst="roundRect">
            <a:avLst>
              <a:gd name="adj" fmla="val 3607"/>
            </a:avLst>
          </a:prstGeom>
          <a:solidFill>
            <a:srgbClr val="E6EE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000" y="2626320"/>
            <a:ext cx="5168559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59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5,384만 원</a:t>
            </a:r>
            <a:endParaRPr lang="en-US" sz="59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3528020"/>
            <a:ext cx="5168559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보이스피싱 건당 피해액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3977580"/>
            <a:ext cx="516855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전에는 2,500만 원이었습니다. 피해액의 </a:t>
            </a:r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78.6%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검사나 금융기관을 사칭한 수법입니다.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15968" y="1641475"/>
            <a:ext cx="5241032" cy="3873500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69968" y="2325985"/>
            <a:ext cx="4922353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결정하게 만듭니다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69968" y="2623145"/>
            <a:ext cx="49223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끊지 말라고 몰아붙이면 옆 사람에게 물어볼 틈이 없습니다.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69968" y="3153370"/>
            <a:ext cx="4922353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가족은 돈이 나간 뒤에 압니다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69968" y="3450530"/>
            <a:ext cx="492235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걱정돼도 부모님 통화 내용을 들여다볼 수는 없습니다.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69968" y="3980755"/>
            <a:ext cx="4922353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목소리도 믿을 수 없습니다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69968" y="4277916"/>
            <a:ext cx="492235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목소리를 흉내 내는 시대에는 “내 아들 목소리”가 확인이 되지 않습니다.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000" y="5743575"/>
            <a:ext cx="10922000" cy="581025"/>
          </a:xfrm>
          <a:prstGeom prst="roundRect">
            <a:avLst>
              <a:gd name="adj" fmla="val 24044"/>
            </a:avLst>
          </a:prstGeom>
          <a:solidFill>
            <a:srgbClr val="E2F5E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89000" y="5895975"/>
            <a:ext cx="1083056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서비스인가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삼성 휴대폰으로 통화를 녹음하는 사람과, 그 사람의 금융 피해를 걱정하는 가족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5000" y="6483350"/>
            <a:ext cx="239518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국회 제출 자료, 매일신문 2026-09-23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ⓑ 해결 방안 및 주요 기능 · 서비스 개요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9207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맞는 백신, 당할 뻔하면 잠금, 곁에는 가족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000" y="1641475"/>
            <a:ext cx="2113260" cy="776486"/>
          </a:xfrm>
          <a:prstGeom prst="roundRect">
            <a:avLst>
              <a:gd name="adj" fmla="val 14720"/>
            </a:avLst>
          </a:prstGeom>
          <a:solidFill>
            <a:srgbClr val="0047A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6280" y="1793875"/>
            <a:ext cx="2025071" cy="47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백신 맞기</a:t>
            </a:r>
            <a:endParaRPr lang="en-US" sz="14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100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시뮬레이션으로 미리 겪기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837160" y="1641475"/>
            <a:ext cx="2113359" cy="776486"/>
          </a:xfrm>
          <a:prstGeom prst="roundRect">
            <a:avLst>
              <a:gd name="adj" fmla="val 1472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18440" y="1793875"/>
            <a:ext cx="2025174" cy="47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통화 찾기</a:t>
            </a:r>
            <a:endParaRPr lang="en-US" sz="14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1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녹음 자동 분석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39420" y="1641475"/>
            <a:ext cx="2113260" cy="776486"/>
          </a:xfrm>
          <a:prstGeom prst="roundRect">
            <a:avLst>
              <a:gd name="adj" fmla="val 1472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20700" y="1793875"/>
            <a:ext cx="2025071" cy="47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가족에게 알리기</a:t>
            </a:r>
            <a:endParaRPr lang="en-US" sz="14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1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여부만 전달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241580" y="1641475"/>
            <a:ext cx="2113260" cy="776486"/>
          </a:xfrm>
          <a:prstGeom prst="roundRect">
            <a:avLst>
              <a:gd name="adj" fmla="val 14720"/>
            </a:avLst>
          </a:prstGeom>
          <a:solidFill>
            <a:srgbClr val="0047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22860" y="1793875"/>
            <a:ext cx="2025071" cy="47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앱 잠그기</a:t>
            </a:r>
            <a:endParaRPr lang="en-US" sz="14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100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 나가는 길을 막음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443740" y="1641475"/>
            <a:ext cx="2113260" cy="776486"/>
          </a:xfrm>
          <a:prstGeom prst="roundRect">
            <a:avLst>
              <a:gd name="adj" fmla="val 14720"/>
            </a:avLst>
          </a:prstGeom>
          <a:solidFill>
            <a:srgbClr val="0047A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525020" y="1793875"/>
            <a:ext cx="2025071" cy="47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암구호로 확인</a:t>
            </a:r>
            <a:endParaRPr lang="en-US" sz="1450" dirty="0"/>
          </a:p>
          <a:p>
            <a:pPr algn="ctr" indent="0" marL="0">
              <a:lnSpc>
                <a:spcPts val="1890"/>
              </a:lnSpc>
              <a:buNone/>
            </a:pPr>
            <a:r>
              <a:rPr lang="en-US" sz="1100" dirty="0">
                <a:solidFill>
                  <a:srgbClr val="DCE7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대신 오늘의 단어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5000" y="2646561"/>
            <a:ext cx="3505200" cy="3678039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89000" y="3588345"/>
            <a:ext cx="311708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백신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89000" y="4087416"/>
            <a:ext cx="311708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시뮬레이션으로 수법을 미리 겪습니다. 새 수법이 제보되면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새 훈련을 만듭니다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43400" y="2646561"/>
            <a:ext cx="3505200" cy="3678039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97400" y="3588345"/>
            <a:ext cx="311708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돈부터 멈춥니다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4597400" y="4087416"/>
            <a:ext cx="311708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강한 의심이 들면 금융·원격제어 앱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47개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1시간 잠급니다. 그 사이 가족과 통화할 시간이 생깁니다.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051800" y="2646561"/>
            <a:ext cx="3505200" cy="3678039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05800" y="3750270"/>
            <a:ext cx="311708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사생활은 그대로입니다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305800" y="4249341"/>
            <a:ext cx="311708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가족에게는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의심 여부와 잠금 상태만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갑니다. 통화 내용이 안 보이니 부모님도 편하게 씁니다.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5000" y="6483350"/>
            <a:ext cx="999463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앱은 통화 음성을 받을 수 없어 통화 후 분석합니다. 이체 전 차단을 보장하지는 않습니다. 금융 앱 잠금과 암구호까지 잇는 서비스는 공개 자료에서 찾지 못했습니다(2026-11 조사).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ⓑ 해결 방안 및 주요 기능 · 핵심 기능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8445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예방부터 대응까지 실제 화면으로 보는 여섯 기능</a:t>
            </a:r>
            <a:endParaRPr lang="en-US" sz="3100" dirty="0"/>
          </a:p>
        </p:txBody>
      </p:sp>
      <p:pic>
        <p:nvPicPr>
          <p:cNvPr id="4" name="Image 0" descr="앱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00" y="1489075"/>
            <a:ext cx="1701800" cy="33337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000" y="4899025"/>
            <a:ext cx="1769872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시뮬레이션</a:t>
            </a:r>
            <a:endParaRPr lang="en-US" sz="1350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수법을 대화로 겪어 봅니다</a:t>
            </a:r>
            <a:endParaRPr lang="en-US" sz="1350" dirty="0"/>
          </a:p>
        </p:txBody>
      </p:sp>
      <p:pic>
        <p:nvPicPr>
          <p:cNvPr id="6" name="Image 1" descr="앱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080" y="1489075"/>
            <a:ext cx="1701800" cy="33337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79080" y="4899025"/>
            <a:ext cx="1769872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제보 → AI 훈련</a:t>
            </a:r>
            <a:endParaRPr lang="en-US" sz="1350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수법 제보를 체험으로 만듭니다</a:t>
            </a:r>
            <a:endParaRPr lang="en-US" sz="1350" dirty="0"/>
          </a:p>
        </p:txBody>
      </p:sp>
      <p:pic>
        <p:nvPicPr>
          <p:cNvPr id="8" name="Image 2" descr="앱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060" y="1489075"/>
            <a:ext cx="1701800" cy="33337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323060" y="4899025"/>
            <a:ext cx="1769872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검사</a:t>
            </a:r>
            <a:endParaRPr lang="en-US" sz="1350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통화에 실제로 나온 말만 근거로 보여 줍니다</a:t>
            </a:r>
            <a:endParaRPr lang="en-US" sz="1350" dirty="0"/>
          </a:p>
        </p:txBody>
      </p:sp>
      <p:pic>
        <p:nvPicPr>
          <p:cNvPr id="10" name="Image 3" descr="앱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140" y="1489075"/>
            <a:ext cx="1701800" cy="333375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167140" y="4899025"/>
            <a:ext cx="1769872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앱 잠금</a:t>
            </a:r>
            <a:endParaRPr lang="en-US" sz="1350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가족은 바로, 본인은 10분 뒤 해제</a:t>
            </a:r>
            <a:endParaRPr lang="en-US" sz="1350" dirty="0"/>
          </a:p>
        </p:txBody>
      </p:sp>
      <p:pic>
        <p:nvPicPr>
          <p:cNvPr id="12" name="Image 4" descr="앱 화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1120" y="1489075"/>
            <a:ext cx="1701800" cy="333375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8011120" y="4899025"/>
            <a:ext cx="1769872" cy="438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암구호</a:t>
            </a:r>
            <a:endParaRPr lang="en-US" sz="1350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0시에 바뀌는 단어 2개</a:t>
            </a:r>
            <a:endParaRPr lang="en-US" sz="1350" dirty="0"/>
          </a:p>
        </p:txBody>
      </p:sp>
      <p:pic>
        <p:nvPicPr>
          <p:cNvPr id="14" name="Image 5" descr="앱 화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200" y="1489075"/>
            <a:ext cx="1701800" cy="333375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9855200" y="4899025"/>
            <a:ext cx="1769872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코디·가족 퀴즈</a:t>
            </a:r>
            <a:endParaRPr lang="en-US" sz="1350" dirty="0"/>
          </a:p>
          <a:p>
            <a:pPr algn="l" indent="0" marL="0">
              <a:lnSpc>
                <a:spcPts val="1590"/>
              </a:lnSpc>
              <a:buNone/>
            </a:pPr>
            <a:r>
              <a:rPr lang="en-US" sz="11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풀수록 카멜레온이 자라고, 꼴찌는 설거지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635000" y="5690989"/>
            <a:ext cx="10922000" cy="511175"/>
          </a:xfrm>
          <a:prstGeom prst="roundRect">
            <a:avLst>
              <a:gd name="adj" fmla="val 27329"/>
            </a:avLst>
          </a:prstGeom>
          <a:solidFill>
            <a:srgbClr val="E2F5EE"/>
          </a:solidFill>
          <a:ln/>
        </p:spPr>
      </p:sp>
      <p:sp>
        <p:nvSpPr>
          <p:cNvPr id="17" name="Text 9"/>
          <p:cNvSpPr txBox="1"/>
          <p:nvPr/>
        </p:nvSpPr>
        <p:spPr>
          <a:xfrm>
            <a:off x="863600" y="5817989"/>
            <a:ext cx="1088339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둘은 예방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둘은 대응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algn="l" indent="0" marL="0">
              <a:lnSpc>
                <a:spcPts val="2030"/>
              </a:lnSpc>
              <a:buNone/>
            </a:pPr>
            <a:r>
              <a:rPr lang="en-US" sz="13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뒤의 둘은 가족</a:t>
            </a:r>
            <a:pPr algn="l" indent="0" marL="0">
              <a:lnSpc>
                <a:spcPts val="2030"/>
              </a:lnSpc>
              <a:buNone/>
            </a:pPr>
            <a:r>
              <a:rPr lang="en-US" sz="13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 사기를 미리 겪고, 의심 통화는 멈추고, 평소에는 가족이 함께 연습합니다.</a:t>
            </a:r>
            <a:endParaRPr lang="en-US" sz="1350" dirty="0"/>
          </a:p>
        </p:txBody>
      </p:sp>
      <p:sp>
        <p:nvSpPr>
          <p:cNvPr id="18" name="Text 10"/>
          <p:cNvSpPr txBox="1"/>
          <p:nvPr/>
        </p:nvSpPr>
        <p:spPr>
          <a:xfrm>
            <a:off x="635000" y="6483350"/>
            <a:ext cx="55734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안드로이드 앱과 시연 계정의 실제 구동 화면, 테스트 통화 사용. 퀴즈 메시지와 시나리오는 가상입니다.</a:t>
            </a:r>
            <a:endParaRPr lang="en-US" sz="1000" dirty="0"/>
          </a:p>
        </p:txBody>
      </p:sp>
      <p:sp>
        <p:nvSpPr>
          <p:cNvPr id="19" name="Text 11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ⓒ 활용 AI 기술 및 직접 개발 범위 · 알고리즘과 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8445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Claude가, 믿고 행동하게 만드는 부분은 저희가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489075"/>
          <a:ext cx="10922000" cy="914400"/>
        </p:xfrm>
        <a:graphic>
          <a:graphicData uri="http://schemas.openxmlformats.org/drawingml/2006/table">
            <a:tbl>
              <a:tblPr/>
              <a:tblGrid>
                <a:gridCol w="1638300"/>
                <a:gridCol w="3385741"/>
                <a:gridCol w="3494980"/>
                <a:gridCol w="2402979"/>
              </a:tblGrid>
              <a:tr h="3905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알고리즘·API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방식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</a:tr>
              <a:tr h="65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→ 글자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large-v3-turbo INT8, faster-whisper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CPU 서버 전사. 부하·장애 시 OpenAI whisper-1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구축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대체 API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 검색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BM25(nori) + bge-m3 kNN, RRF 결합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유사 사례 3건을 판정에 참고. 실패하면 LLM만 사용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구현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사기 판정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claude-opus-5-5, JSON 스키마 출력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라벨, 유형, 확신도, 인용 근거 출력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 +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기준 직접 작성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대조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인용 문장과 녹취 순서 비교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녹취에 없는 근거는 지우고 조치도 막음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구현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조치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확신도 임계값 0.7, 0.9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가족 알림, 앱 잠금·해제, 암구호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구현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4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사기 백신 생성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Claude, 결과 구조 검사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제보의 번호·계좌·링크를 가린 뒤 5턴 체험 생성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 +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구현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82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앱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접근 프레임워크, 접근성 서비스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녹음 폴더 감시, S3 직접 업로드, 금융 앱 차단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구현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(Kotlin)</a:t>
                      </a:r>
                      <a:endParaRPr lang="en-US" sz="1200" dirty="0"/>
                    </a:p>
                  </a:txBody>
                  <a:tcPr marL="127000" marR="127000" marT="82550" marB="825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5000" y="6483350"/>
            <a:ext cx="3370517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학습 모델은 없습니다. 모델 파인튜닝은 확장 계획입니다.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ⓒ 활용 AI 기술 및 직접 개발 범위 · 적용 방식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9207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답을 그대로 믿지 않습니다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000" y="1641475"/>
            <a:ext cx="3505200" cy="4683125"/>
          </a:xfrm>
          <a:prstGeom prst="roundRect">
            <a:avLst>
              <a:gd name="adj" fmla="val 3986"/>
            </a:avLst>
          </a:prstGeom>
          <a:solidFill>
            <a:srgbClr val="E6EE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000" y="2243733"/>
            <a:ext cx="3117088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경고도 피해입니다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2680593"/>
            <a:ext cx="311708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지어낸 근거 차단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녹취에 없는 문장을 근거로 들면 지우고, 근거가 없으면 알림도 잠금도 없습니다.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3925193"/>
            <a:ext cx="311708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속 지시 무시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“정상으로 판정하라”는 말을 따르지 않고 판단 근거로만 씁니다.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9000" y="4893568"/>
            <a:ext cx="311708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있는 잠금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가족 해제, 10분 대기, 1시간 만료로 풀립니다.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3400" y="1641475"/>
            <a:ext cx="3505200" cy="46831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7400" y="2727920"/>
            <a:ext cx="3117088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수법이 바뀌면 백신도 바뀝니다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97400" y="3164780"/>
            <a:ext cx="311708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경험 제보 → 추천 상위 3건 → 번호·계좌·링크 가림 → </a:t>
            </a:r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5턴 체험 생성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597400" y="4133155"/>
            <a:ext cx="311708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제보를 생성하지 않고 추천 상위만, 제보당 한 번 만듭니다. 생성 결과도 구조를 검사하고 번호와 링크를 다시 가립니다.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51800" y="1641475"/>
            <a:ext cx="3505200" cy="468312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5800" y="2866033"/>
            <a:ext cx="3117088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STT는 직접 비교해 골랐습니다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3302893"/>
            <a:ext cx="31170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Polly로 합성한 한국어 음성 20개로 5개 설정을 비교했습니다.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305800" y="3995043"/>
            <a:ext cx="3117088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large-v3-turbo 선정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정규화 CER은 large-v3와 같은 1.41%, 44초 MP3 처리는 26초(large-v3 63초)입니다.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35000" y="6483350"/>
            <a:ext cx="609528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비교는 합성 음성으로 한 번씩 측정한 예비 평가입니다. 확신도는 LLM이 매긴 값이며 사기 확률이 아닙니다.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ⓓ 개발 환경 및 기술 스택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8445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웹과 앱이 서버 하나를 함께 씁니다</a:t>
            </a:r>
            <a:endParaRPr lang="en-US" sz="3100" dirty="0"/>
          </a:p>
        </p:txBody>
      </p:sp>
      <p:pic>
        <p:nvPicPr>
          <p:cNvPr id="4" name="Image 0" descr="CodySafe 아키텍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99" y="1855192"/>
            <a:ext cx="7279184" cy="410319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17582" y="1489075"/>
            <a:ext cx="3439418" cy="4835525"/>
          </a:xfrm>
          <a:prstGeom prst="roundRect">
            <a:avLst>
              <a:gd name="adj" fmla="val 4062"/>
            </a:avLst>
          </a:prstGeom>
          <a:solidFill>
            <a:srgbClr val="E6EE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20782" y="1908175"/>
            <a:ext cx="315433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Python, JavaScript, Kotlin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8320782" y="2562225"/>
            <a:ext cx="315433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FastAPI, Uvicorn, WebView, WorkManager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320782" y="3492500"/>
            <a:ext cx="315433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데이터·AI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SQLite, Elasticsearch 8.17, faster-whisper, bge-m3, Claude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320782" y="4422775"/>
            <a:ext cx="315433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EC2 3대, S3, Terraform, Docker, GitHub Actions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320782" y="5353050"/>
            <a:ext cx="315433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검증·관측</a:t>
            </a:r>
            <a:endParaRPr lang="en-US" sz="1450" dirty="0"/>
          </a:p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71개, Langfuse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35000" y="6483350"/>
            <a:ext cx="5532398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판정용 녹취와 대체 경로 음성은 외부 API로 전송됩니다. Langfuse에는 통화 내용을 보내지 않습니다.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ⓔ 팀원별 역할 분담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8445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명이 맡은 일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1489075"/>
          <a:ext cx="10922000" cy="914400"/>
        </p:xfrm>
        <a:graphic>
          <a:graphicData uri="http://schemas.openxmlformats.org/drawingml/2006/table">
            <a:tbl>
              <a:tblPr/>
              <a:tblGrid>
                <a:gridCol w="1310580"/>
                <a:gridCol w="2621260"/>
                <a:gridCol w="6990159"/>
              </a:tblGrid>
              <a:tr h="3841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기여 내용</a:t>
                      </a:r>
                      <a:endParaRPr lang="en-US" sz="1200" dirty="0"/>
                    </a:p>
                  </a:txBody>
                  <a:tcPr marL="127000" marR="127000" marT="762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</a:tr>
              <a:tr h="707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김동현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구현 총괄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API와 판정 파이프라인, 근거 대조, 가족 알림·잠금·암구호, 웹 화면, 안드로이드 앱, 체험·제보·피드백, S3·RAG·Langfuse 연동, 테스트, 배포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김호연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기획, 시나리오, 데이터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 조사와 경쟁 서비스 비교, 기획·README 초안, 체험 시나리오 13개 작성, 검색 문서 90건 주입, 비밀값 관리 규칙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83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유상우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브랜드 디자인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CodySafe 브랜드 가이드, 로고 자산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07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김병국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QA, 기능 기획, 경쟁사 분석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QA, 기능 기획, 경쟁사 비교 분석. URL 탐지를 개발했으나 통화 후 대응이라는 목적과 맞지 않아 폐기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02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전선형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데이터셋, 기능 기획, QA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사기 사례 검색 데이터 90건 제작, 서비스 기능 기획, 품질 검증(QA)</a:t>
                      </a:r>
                      <a:endParaRPr lang="en-US" sz="1200" dirty="0"/>
                    </a:p>
                  </a:txBody>
                  <a:tcPr marL="127000" marR="127000" marT="101600" marB="1016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5000" y="5060950"/>
            <a:ext cx="5359400" cy="1263650"/>
          </a:xfrm>
          <a:prstGeom prst="roundRect">
            <a:avLst>
              <a:gd name="adj" fmla="val 11055"/>
            </a:avLst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900" y="5252045"/>
            <a:ext cx="5124704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방식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0900" y="5638105"/>
            <a:ext cx="5124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브랜치와 Pull Request로 합쳤고, 초기 QR 판독 기획과 현재 기획을 저장소 문서로 남겼습니다.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7600" y="5060950"/>
            <a:ext cx="5359400" cy="1263650"/>
          </a:xfrm>
          <a:prstGeom prst="roundRect">
            <a:avLst>
              <a:gd name="adj" fmla="val 11055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13500" y="5252045"/>
            <a:ext cx="5124704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QA에서 고친 문제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13500" y="5638105"/>
            <a:ext cx="512470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선택지 행동 설명 분리, 5턴 확장(e352ae7, 55c43ac), 아래 메뉴 항상 표시(f161a70, 03524da), 상태바 겹침 수정(55c43ac)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5000" y="6483350"/>
            <a:ext cx="228725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산출물: github.com/rla8127/CodySafe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4500" y="190500"/>
            <a:ext cx="117551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ⓕ 외부 자원 활용 내역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500" y="488950"/>
          <a:ext cx="11303000" cy="914400"/>
        </p:xfrm>
        <a:graphic>
          <a:graphicData uri="http://schemas.openxmlformats.org/drawingml/2006/table">
            <a:tbl>
              <a:tblPr/>
              <a:tblGrid>
                <a:gridCol w="1243310"/>
                <a:gridCol w="4973241"/>
                <a:gridCol w="3277791"/>
                <a:gridCol w="1808659"/>
              </a:tblGrid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명칭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3F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FastAPI 0.162, Uvicorn 0.54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MIT, BSD-3-Clause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boto3 1.43, httpx 0.28, pytest 9.2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S3 연동, HTTP, 테스트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2.0, BSD-3, MIT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 2.3, openai 3.42, langfuse 5.1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클라이언트, 관측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2.0, Apache 2.0, MIT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AndroidX WorkManager 2.9.1, DocumentFile 1.0.1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주기 실행, 폴더 접근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Elasticsearch 8.17.0, analysis-nori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구현 (사기 사례 검색)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Elastic License 2.0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BAAI/bge-m3, sentence-transformers, PyTorch, elasticsearch-py, pypdf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RAG 구현 (임베딩, 문서 적재)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MIT, Apache 2.0, BSD-3 등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faster-whisper 1.2.1, CTranslate2 4.8.4, Whisper large-v3-turbo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 STT 서버 (최종 선정)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Whisper large-v3, whisper-medium-komixv2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 비교 평가 (미채택)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MIT, 모델 카드 표기 없음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Qwen3-ASR 0.6B·1.7B, qwen-asr 0.0.6, Transformers 4.57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 비교 평가 (미채택)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Pretendard 1.3.9, SUIT 2.0.5, 나눔스퀘어 라운드, Noto Sans KR, Lucide 0.460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폰트, 아이콘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OFL, ISC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mutagen 1.48.1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업로드 음성 길이 확인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GPL-2.0-or-later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pydantic 2.14, starlette 1.10, opentelemetry-api 1.45, python-dotenv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검증, 서버, 관측 문맥, 환경 설정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MIT, BSD-3, Apache 2.0, BSD-3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NumPy 2.5, SciPy 1.18, PyAV 19.0, huggingface_hub 0.36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음성 생성, 음성 해독, 모델 다운로드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BSD-3, BSD-3, BSD-3, Apache 2.0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python-docx 1.2, markdown-it-py 4.2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 평가 문서 생성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MIT, MIT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오픈소스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Kotlin 1.9.24, Android Gradle Plugin 8.5.2, GitHub Actions(checkout, setup-java, upload-artifact, setup-gradle)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빌드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Apache 2.0, Apache 2.0, MIT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Anthropic claude-opus-5-5, claude-haiku-5-5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판정, 재순위, 시나리오 생성, 문서 구조화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whisper-1, gpt-image-2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 대체 경로, 체험 가상 인물 사진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Amazon S3, Langfuse Cloud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저장, 처리 시간·토큰 관측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서비스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Amazon Polly, ElevenLabs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STT 평가용 한국어 데이터셋, 자연스러운 음성 생성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API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보유 코드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화면 코드 index.html, css/, js/, assets/ (2026-10-30 01시경 작성, 주제 공개 전)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공용 화면 자원과 초기 웹 MVP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 자체 작성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Amazon EC2 t4g.large, c7i-flex.large, t4g.medium 각 1대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서비스, STT, 검색 서버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서비스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Terraform, Docker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서버 구성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BUSL 1.1, Apache 2.0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Code, OpenAI Codex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코드·문서 작성 보조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상용 서비스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금융당국 보도자료, KISA 118 상담 기반 합성 데이터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 문서 (원문 미저장, 요약만 적재)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출처 이용 조건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금감원 공개 녹음 전사(KorCCVi)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요약만 색인, 검색 결과에서 제외, 재배포 안 함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재배포 금지, 금감원 조건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금융감독원·금융위원회 경보, 매일신문 보도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화면 사기 동향 (출처 표시)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6536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 표시 인용</a:t>
                      </a:r>
                      <a:endParaRPr lang="en-US" sz="1200" dirty="0"/>
                    </a:p>
                  </a:txBody>
                  <a:tcPr marL="88900" marR="88900" marT="12700" marB="127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35000" y="6483350"/>
            <a:ext cx="8054404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사용한 자원 기준. 간접 의존성은 korean-stt/requirements.lock.txt, server/requirements.txt, infra/es-server의 requirements.txt 참고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ⓖ 기대 효과 및 확장 가능성 · 실제 적용 가능성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9207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동작하는 것과 아직 모르는 것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000" y="1641475"/>
            <a:ext cx="3777655" cy="3927475"/>
          </a:xfrm>
          <a:prstGeom prst="roundRect">
            <a:avLst>
              <a:gd name="adj" fmla="val 3698"/>
            </a:avLst>
          </a:prstGeom>
          <a:solidFill>
            <a:srgbClr val="E6EE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000" y="2123083"/>
            <a:ext cx="3400441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2534543"/>
            <a:ext cx="34004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결정하지 않게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경고, 112, 가족 확인을 한 흐름으로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3201293"/>
            <a:ext cx="34004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생각할 시간 확보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금융 앱 잠금으로 추가 이체를 늦춤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89000" y="3868043"/>
            <a:ext cx="34004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사생활 지키는 가족 보호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통화 내용 없이 의심 여부만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889000" y="4534793"/>
            <a:ext cx="34004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백신처럼 남는 예방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시뮬레이션, 암구호, 코디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15855" y="1641475"/>
            <a:ext cx="2960291" cy="3927475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69855" y="2716808"/>
            <a:ext cx="2550382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59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30</a:t>
            </a:r>
            <a:endParaRPr lang="en-US" sz="5900" dirty="0"/>
          </a:p>
        </p:txBody>
      </p:sp>
      <p:sp>
        <p:nvSpPr>
          <p:cNvPr id="12" name="Text 10"/>
          <p:cNvSpPr txBox="1"/>
          <p:nvPr/>
        </p:nvSpPr>
        <p:spPr>
          <a:xfrm>
            <a:off x="4869855" y="3555008"/>
            <a:ext cx="2550382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사기 통화 탐지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869855" y="3941068"/>
            <a:ext cx="255038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헷갈리게 쓴 합성 정상 통화 30건 오탐 </a:t>
            </a:r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779345" y="1641475"/>
            <a:ext cx="3777655" cy="3927475"/>
          </a:xfrm>
          <a:prstGeom prst="roundRect">
            <a:avLst>
              <a:gd name="adj" fmla="val 369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33345" y="2424708"/>
            <a:ext cx="3400441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상태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033345" y="2823468"/>
            <a:ext cx="34004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폰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녹음부터 금융 앱 잠금까지 확인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033345" y="3201293"/>
            <a:ext cx="34004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실서버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MP3로 자체 STT부터 잠금까지 확인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033345" y="3855343"/>
            <a:ext cx="34004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테스트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pytest 71개 통과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033345" y="4233168"/>
            <a:ext cx="340044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미측정</a:t>
            </a:r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실제 통화 성능, 학습 효과, 피해 감소 효과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35000" y="5797550"/>
            <a:ext cx="10922000" cy="527050"/>
          </a:xfrm>
          <a:prstGeom prst="roundRect">
            <a:avLst>
              <a:gd name="adj" fmla="val 26506"/>
            </a:avLst>
          </a:prstGeom>
          <a:solidFill>
            <a:srgbClr val="E2F5E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9000" y="5937250"/>
            <a:ext cx="108305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제약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삼성 통화 녹음만 지원, 인터넷 전화 제외, 접근성 권한을 끄면 잠금 불가, 가족 알림은 앱이 꺼져 있으면 지연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000" y="6483350"/>
            <a:ext cx="1041873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평가셋은 Claude Code로 작성해 결과 확인 전 고정. 60건 기준 95% 신뢰구간: 탐지율 88% 이상, 오탐률 12% 이하. 시연 서버는 분석 뒤에도 음성을 보관하며 기록을 지우면 함께 삭제합니다.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486455" y="6483350"/>
            <a:ext cx="73366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35000" y="457200"/>
            <a:ext cx="1135888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47A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ⓖ 기대 효과 및 확장 가능성 · 추가 개발 방향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35000" y="920750"/>
            <a:ext cx="11358880" cy="492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80"/>
              </a:lnSpc>
              <a:buNone/>
            </a:pPr>
            <a:r>
              <a:rPr lang="en-US" sz="3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부모님 폰 하나에서 1만 가족까지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000" y="1641475"/>
            <a:ext cx="3505200" cy="380047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9000" y="2490192"/>
            <a:ext cx="311708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3개월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안전하게 운영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89000" y="3335933"/>
            <a:ext cx="311708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전환, 음성 저장소 국내 리전 이전, FCM 가족 알림, Play 접근성 심사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4317008"/>
            <a:ext cx="31170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100가족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641475"/>
            <a:ext cx="3505200" cy="380047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7400" y="2628305"/>
            <a:ext cx="311708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통화로 검증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4597400" y="3474045"/>
            <a:ext cx="311708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통화 500건으로 재측정, 확신도 보정, GPU 서빙으로 대체 경로 축소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97400" y="4178895"/>
            <a:ext cx="31170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탐지율 90%, 오탐률 5% 이하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51800" y="1641475"/>
            <a:ext cx="3505200" cy="3800475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05800" y="2490192"/>
            <a:ext cx="3117088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제휴로 앞단 연결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3335933"/>
            <a:ext cx="311708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dirty="0">
                <a:solidFill>
                  <a:srgbClr val="4653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제조사·통신사 실시간 탐지 연동, 금융사 이체 지연 연계, 삼성 외 환경 지원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05800" y="4317008"/>
            <a:ext cx="311708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50" b="1" dirty="0">
                <a:solidFill>
                  <a:srgbClr val="10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1곳, 1만 가족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5000" y="5670550"/>
            <a:ext cx="10922000" cy="654050"/>
          </a:xfrm>
          <a:prstGeom prst="roundRect">
            <a:avLst>
              <a:gd name="adj" fmla="val 21359"/>
            </a:avLst>
          </a:prstGeom>
          <a:solidFill>
            <a:srgbClr val="0047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9000" y="5835650"/>
            <a:ext cx="108305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사기는 미리 겪어 보고, 의심 통화는 가족과 함께 막습니다.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5000" y="6483350"/>
            <a:ext cx="1606010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기간과 수치는 팀 목표입니다.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416010" y="6483350"/>
            <a:ext cx="146629" cy="1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8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CodySafe 발표자료 v4</dc:title>
  <dc:subject>PptxGenJS Presentation</dc:subject>
  <dc:creator>팀 유레카</dc:creator>
  <cp:lastModifiedBy>팀 유레카</cp:lastModifiedBy>
  <cp:revision>1</cp:revision>
  <dcterms:created xsi:type="dcterms:W3CDTF">2026-11-01T02:44:22Z</dcterms:created>
  <dcterms:modified xsi:type="dcterms:W3CDTF">2026-11-01T02:44:22Z</dcterms:modified>
</cp:coreProperties>
</file>