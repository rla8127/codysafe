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463" y="5715000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7848600" y="0"/>
            <a:ext cx="4343400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699" y="514350"/>
            <a:ext cx="3532811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8"/>
          <p:cNvSpPr/>
          <p:nvPr/>
        </p:nvSpPr>
        <p:spPr>
          <a:xfrm>
            <a:off x="647700" y="1905000"/>
            <a:ext cx="69532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AI 사기는 미리 경험하고,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피해</a:t>
            </a:r>
            <a:r>
              <a:rPr b="1" lang="en-US" sz="4125">
                <a:solidFill>
                  <a:srgbClr val="162340"/>
                </a:solidFill>
              </a:rPr>
              <a:t>는</a:t>
            </a:r>
            <a:r>
              <a:rPr b="1" lang="en-US" sz="41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 미리 예방!</a:t>
            </a:r>
            <a:endParaRPr/>
          </a:p>
        </p:txBody>
      </p:sp>
      <p:sp>
        <p:nvSpPr>
          <p:cNvPr id="35" name="Google Shape;35;p8"/>
          <p:cNvSpPr/>
          <p:nvPr/>
        </p:nvSpPr>
        <p:spPr>
          <a:xfrm>
            <a:off x="666750" y="4152900"/>
            <a:ext cx="642937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코디세이 AI 해커톤 2026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주제 02  AI 기반 정보보호 서비스</a:t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1752600" y="5962650"/>
            <a:ext cx="5810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01  문제 정의와 목표 사용자</a:t>
            </a:r>
            <a:endParaRPr/>
          </a:p>
        </p:txBody>
      </p:sp>
      <p:sp>
        <p:nvSpPr>
          <p:cNvPr id="43" name="Google Shape;43;p9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사기 </a:t>
            </a:r>
            <a:r>
              <a:rPr b="1" lang="en-US" sz="2850">
                <a:solidFill>
                  <a:srgbClr val="162340"/>
                </a:solidFill>
              </a:rPr>
              <a:t>수법이 </a:t>
            </a: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진화할수록, 혼자 판단하기</a:t>
            </a:r>
            <a:r>
              <a:rPr b="1" lang="en-US" sz="2850">
                <a:solidFill>
                  <a:srgbClr val="162340"/>
                </a:solidFill>
              </a:rPr>
              <a:t>에는 난감</a:t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49" name="Google Shape;49;p9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0" name="Google Shape;50;p9"/>
          <p:cNvSpPr/>
          <p:nvPr/>
        </p:nvSpPr>
        <p:spPr>
          <a:xfrm>
            <a:off x="609600" y="1676400"/>
            <a:ext cx="3333750" cy="2095500"/>
          </a:xfrm>
          <a:prstGeom prst="roundRect">
            <a:avLst>
              <a:gd fmla="val 8182" name="adj"/>
            </a:avLst>
          </a:prstGeom>
          <a:solidFill>
            <a:srgbClr val="DFEA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9"/>
          <p:cNvSpPr/>
          <p:nvPr/>
        </p:nvSpPr>
        <p:spPr>
          <a:xfrm>
            <a:off x="838200" y="1866900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피해 규모</a:t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838200" y="2247900"/>
            <a:ext cx="2876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3,116억 원</a:t>
            </a:r>
            <a:endParaRPr/>
          </a:p>
        </p:txBody>
      </p:sp>
      <p:sp>
        <p:nvSpPr>
          <p:cNvPr id="53" name="Google Shape;53;p9"/>
          <p:cNvSpPr/>
          <p:nvPr/>
        </p:nvSpPr>
        <p:spPr>
          <a:xfrm>
            <a:off x="838200" y="2914650"/>
            <a:ext cx="28765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2025년 1분기 보이스피싱 피해액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전년 동기 대비 2.2배</a:t>
            </a:r>
            <a:endParaRPr/>
          </a:p>
        </p:txBody>
      </p:sp>
      <p:sp>
        <p:nvSpPr>
          <p:cNvPr id="54" name="Google Shape;54;p9"/>
          <p:cNvSpPr/>
          <p:nvPr/>
        </p:nvSpPr>
        <p:spPr>
          <a:xfrm>
            <a:off x="4133850" y="1676400"/>
            <a:ext cx="3333750" cy="2095500"/>
          </a:xfrm>
          <a:prstGeom prst="roundRect">
            <a:avLst>
              <a:gd fmla="val 818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"/>
          <p:cNvSpPr/>
          <p:nvPr/>
        </p:nvSpPr>
        <p:spPr>
          <a:xfrm>
            <a:off x="4362450" y="1866900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취약 사용자</a:t>
            </a:r>
            <a:endParaRPr/>
          </a:p>
        </p:txBody>
      </p:sp>
      <p:sp>
        <p:nvSpPr>
          <p:cNvPr id="56" name="Google Shape;56;p9"/>
          <p:cNvSpPr/>
          <p:nvPr/>
        </p:nvSpPr>
        <p:spPr>
          <a:xfrm>
            <a:off x="4362450" y="2247900"/>
            <a:ext cx="2876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30.6%</a:t>
            </a:r>
            <a:endParaRPr/>
          </a:p>
        </p:txBody>
      </p:sp>
      <p:sp>
        <p:nvSpPr>
          <p:cNvPr id="57" name="Google Shape;57;p9"/>
          <p:cNvSpPr/>
          <p:nvPr/>
        </p:nvSpPr>
        <p:spPr>
          <a:xfrm>
            <a:off x="4362450" y="2914650"/>
            <a:ext cx="28765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보이스피싱 피해자 중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60대 이상 비중</a:t>
            </a:r>
            <a:endParaRPr/>
          </a:p>
        </p:txBody>
      </p:sp>
      <p:sp>
        <p:nvSpPr>
          <p:cNvPr id="58" name="Google Shape;58;p9"/>
          <p:cNvSpPr/>
          <p:nvPr/>
        </p:nvSpPr>
        <p:spPr>
          <a:xfrm>
            <a:off x="7658100" y="1676400"/>
            <a:ext cx="3333750" cy="2095500"/>
          </a:xfrm>
          <a:prstGeom prst="roundRect">
            <a:avLst>
              <a:gd fmla="val 8182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7886700" y="1866900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변화하는 수법</a:t>
            </a:r>
            <a:endParaRPr/>
          </a:p>
        </p:txBody>
      </p:sp>
      <p:sp>
        <p:nvSpPr>
          <p:cNvPr id="60" name="Google Shape;60;p9"/>
          <p:cNvSpPr/>
          <p:nvPr/>
        </p:nvSpPr>
        <p:spPr>
          <a:xfrm>
            <a:off x="7886700" y="2247900"/>
            <a:ext cx="2876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219.6만 건</a:t>
            </a:r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7886700" y="2914650"/>
            <a:ext cx="28765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2024년 스미싱 탐지 건수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2022년 3.7만 건</a:t>
            </a: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609600" y="4162425"/>
            <a:ext cx="2190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 사용자</a:t>
            </a:r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609600" y="4657725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50~70대 부모 세대</a:t>
            </a:r>
            <a:endParaRPr/>
          </a:p>
        </p:txBody>
      </p:sp>
      <p:sp>
        <p:nvSpPr>
          <p:cNvPr id="64" name="Google Shape;64;p9"/>
          <p:cNvSpPr/>
          <p:nvPr/>
        </p:nvSpPr>
        <p:spPr>
          <a:xfrm>
            <a:off x="4095750" y="4657725"/>
            <a:ext cx="3714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부모님을 챙기는 30~40대 자녀</a:t>
            </a: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8039100" y="4657725"/>
            <a:ext cx="3333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20대 사회초년생으로 확장</a:t>
            </a:r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609600" y="5781675"/>
            <a:ext cx="10477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출처: 경찰청·국회 행정안전위원회(2025), 금융위원회. 수치는 원본 발표자료 기준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02  해결 방안</a:t>
            </a:r>
            <a:endParaRPr/>
          </a:p>
        </p:txBody>
      </p:sp>
      <p:sp>
        <p:nvSpPr>
          <p:cNvPr id="73" name="Google Shape;73;p10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0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경험하고, 검사하고, 함께 대응합니다</a:t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0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80" name="Google Shape;80;p10"/>
          <p:cNvSpPr/>
          <p:nvPr/>
        </p:nvSpPr>
        <p:spPr>
          <a:xfrm>
            <a:off x="609600" y="1714500"/>
            <a:ext cx="3333750" cy="3238500"/>
          </a:xfrm>
          <a:prstGeom prst="roundRect">
            <a:avLst>
              <a:gd fmla="val 5294" name="adj"/>
            </a:avLst>
          </a:prstGeom>
          <a:solidFill>
            <a:srgbClr val="DFEA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838200" y="1905000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01  체험</a:t>
            </a:r>
            <a:endParaRPr/>
          </a:p>
        </p:txBody>
      </p:sp>
      <p:sp>
        <p:nvSpPr>
          <p:cNvPr id="82" name="Google Shape;82;p10"/>
          <p:cNvSpPr/>
          <p:nvPr/>
        </p:nvSpPr>
        <p:spPr>
          <a:xfrm>
            <a:off x="838200" y="2286000"/>
            <a:ext cx="2876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사기 시뮬레이션</a:t>
            </a:r>
            <a:endParaRPr/>
          </a:p>
        </p:txBody>
      </p:sp>
      <p:sp>
        <p:nvSpPr>
          <p:cNvPr id="83" name="Google Shape;83;p10"/>
          <p:cNvSpPr/>
          <p:nvPr/>
        </p:nvSpPr>
        <p:spPr>
          <a:xfrm>
            <a:off x="838200" y="2952750"/>
            <a:ext cx="287655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메신저처럼 대화하고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선택에 따른 피드백을 받습니다.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25">
              <a:solidFill>
                <a:srgbClr val="1623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6가지 수법 체험</a:t>
            </a:r>
            <a:endParaRPr/>
          </a:p>
        </p:txBody>
      </p:sp>
      <p:sp>
        <p:nvSpPr>
          <p:cNvPr id="84" name="Google Shape;84;p10"/>
          <p:cNvSpPr/>
          <p:nvPr/>
        </p:nvSpPr>
        <p:spPr>
          <a:xfrm>
            <a:off x="4133850" y="1714500"/>
            <a:ext cx="3333750" cy="323850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4362450" y="1905000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02  검사</a:t>
            </a:r>
            <a:endParaRPr/>
          </a:p>
        </p:txBody>
      </p:sp>
      <p:sp>
        <p:nvSpPr>
          <p:cNvPr id="86" name="Google Shape;86;p10"/>
          <p:cNvSpPr/>
          <p:nvPr/>
        </p:nvSpPr>
        <p:spPr>
          <a:xfrm>
            <a:off x="4362450" y="2286000"/>
            <a:ext cx="2876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의심 URL 확인</a:t>
            </a:r>
            <a:endParaRPr/>
          </a:p>
        </p:txBody>
      </p:sp>
      <p:sp>
        <p:nvSpPr>
          <p:cNvPr id="87" name="Google Shape;87;p10"/>
          <p:cNvSpPr/>
          <p:nvPr/>
        </p:nvSpPr>
        <p:spPr>
          <a:xfrm>
            <a:off x="4362450" y="2952750"/>
            <a:ext cx="287655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링크의 위험 신호와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판정 근거를 확인합니다.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25">
              <a:solidFill>
                <a:srgbClr val="1623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브라우저 규칙 기반 검사</a:t>
            </a:r>
            <a:endParaRPr/>
          </a:p>
        </p:txBody>
      </p:sp>
      <p:sp>
        <p:nvSpPr>
          <p:cNvPr id="88" name="Google Shape;88;p10"/>
          <p:cNvSpPr/>
          <p:nvPr/>
        </p:nvSpPr>
        <p:spPr>
          <a:xfrm>
            <a:off x="7658100" y="1714500"/>
            <a:ext cx="3333750" cy="3238500"/>
          </a:xfrm>
          <a:prstGeom prst="roundRect">
            <a:avLst>
              <a:gd fmla="val 5294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7886700" y="1905000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03  대응</a:t>
            </a:r>
            <a:endParaRPr/>
          </a:p>
        </p:txBody>
      </p:sp>
      <p:sp>
        <p:nvSpPr>
          <p:cNvPr id="90" name="Google Shape;90;p10"/>
          <p:cNvSpPr/>
          <p:nvPr/>
        </p:nvSpPr>
        <p:spPr>
          <a:xfrm>
            <a:off x="7886700" y="2286000"/>
            <a:ext cx="2876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대응 안내</a:t>
            </a:r>
            <a:endParaRPr/>
          </a:p>
        </p:txBody>
      </p:sp>
      <p:sp>
        <p:nvSpPr>
          <p:cNvPr id="91" name="Google Shape;91;p10"/>
          <p:cNvSpPr/>
          <p:nvPr/>
        </p:nvSpPr>
        <p:spPr>
          <a:xfrm>
            <a:off x="7886700" y="2952750"/>
            <a:ext cx="287655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상황에 맞는 행동 순서와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신고 연락처를 안내합니다.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25">
              <a:solidFill>
                <a:srgbClr val="1623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가족 공유는 개발 계획</a:t>
            </a:r>
            <a:endParaRPr/>
          </a:p>
        </p:txBody>
      </p:sp>
      <p:sp>
        <p:nvSpPr>
          <p:cNvPr id="92" name="Google Shape;92;p10"/>
          <p:cNvSpPr/>
          <p:nvPr/>
        </p:nvSpPr>
        <p:spPr>
          <a:xfrm>
            <a:off x="609600" y="5362575"/>
            <a:ext cx="10477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예방은 실제 상황이 오기 전의 연습에서 시작합니다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03  주요 기능과 구현 상태</a:t>
            </a:r>
            <a:endParaRPr/>
          </a:p>
        </p:txBody>
      </p:sp>
      <p:sp>
        <p:nvSpPr>
          <p:cNvPr id="99" name="Google Shape;99;p11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1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현재 동작하는 것과 앞으로 만들 것</a:t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105" name="Google Shape;105;p11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06" name="Google Shape;106;p11"/>
          <p:cNvSpPr/>
          <p:nvPr/>
        </p:nvSpPr>
        <p:spPr>
          <a:xfrm>
            <a:off x="685800" y="1619250"/>
            <a:ext cx="28956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기능</a:t>
            </a:r>
            <a:endParaRPr/>
          </a:p>
        </p:txBody>
      </p:sp>
      <p:sp>
        <p:nvSpPr>
          <p:cNvPr id="107" name="Google Shape;107;p11"/>
          <p:cNvSpPr/>
          <p:nvPr/>
        </p:nvSpPr>
        <p:spPr>
          <a:xfrm>
            <a:off x="3733800" y="1619250"/>
            <a:ext cx="54673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제공 내용</a:t>
            </a:r>
            <a:endParaRPr/>
          </a:p>
        </p:txBody>
      </p:sp>
      <p:sp>
        <p:nvSpPr>
          <p:cNvPr id="108" name="Google Shape;108;p11"/>
          <p:cNvSpPr/>
          <p:nvPr/>
        </p:nvSpPr>
        <p:spPr>
          <a:xfrm>
            <a:off x="9353550" y="1619250"/>
            <a:ext cx="2152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상태</a:t>
            </a:r>
            <a:endParaRPr/>
          </a:p>
        </p:txBody>
      </p:sp>
      <p:sp>
        <p:nvSpPr>
          <p:cNvPr id="109" name="Google Shape;109;p11"/>
          <p:cNvSpPr/>
          <p:nvPr/>
        </p:nvSpPr>
        <p:spPr>
          <a:xfrm>
            <a:off x="609600" y="19812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685800" y="2095500"/>
            <a:ext cx="2895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사기 시뮬레이션</a:t>
            </a:r>
            <a:endParaRPr/>
          </a:p>
        </p:txBody>
      </p:sp>
      <p:sp>
        <p:nvSpPr>
          <p:cNvPr id="111" name="Google Shape;111;p11"/>
          <p:cNvSpPr/>
          <p:nvPr/>
        </p:nvSpPr>
        <p:spPr>
          <a:xfrm>
            <a:off x="3733800" y="2095500"/>
            <a:ext cx="5467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6가지 수법, 선택별 피드백과 점수</a:t>
            </a:r>
            <a:endParaRPr/>
          </a:p>
        </p:txBody>
      </p:sp>
      <p:sp>
        <p:nvSpPr>
          <p:cNvPr id="112" name="Google Shape;112;p11"/>
          <p:cNvSpPr/>
          <p:nvPr/>
        </p:nvSpPr>
        <p:spPr>
          <a:xfrm>
            <a:off x="9353550" y="2095500"/>
            <a:ext cx="21526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/>
          </a:p>
        </p:txBody>
      </p:sp>
      <p:sp>
        <p:nvSpPr>
          <p:cNvPr id="113" name="Google Shape;113;p11"/>
          <p:cNvSpPr/>
          <p:nvPr/>
        </p:nvSpPr>
        <p:spPr>
          <a:xfrm>
            <a:off x="609600" y="2524125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685800" y="2600325"/>
            <a:ext cx="2895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URL 탐지</a:t>
            </a:r>
            <a:endParaRPr/>
          </a:p>
        </p:txBody>
      </p:sp>
      <p:sp>
        <p:nvSpPr>
          <p:cNvPr id="115" name="Google Shape;115;p11"/>
          <p:cNvSpPr/>
          <p:nvPr/>
        </p:nvSpPr>
        <p:spPr>
          <a:xfrm>
            <a:off x="3733800" y="2600325"/>
            <a:ext cx="5467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도메인 대조·철자 유사도 등 규칙 검사</a:t>
            </a: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9353550" y="2600325"/>
            <a:ext cx="21526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구현</a:t>
            </a: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609600" y="30289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685800" y="3105150"/>
            <a:ext cx="2895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방어 설정 점검</a:t>
            </a: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3733800" y="3105150"/>
            <a:ext cx="5467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원격제어·출처불명 앱 등 점검 안내</a:t>
            </a:r>
            <a:endParaRPr/>
          </a:p>
        </p:txBody>
      </p:sp>
      <p:sp>
        <p:nvSpPr>
          <p:cNvPr id="120" name="Google Shape;120;p11"/>
          <p:cNvSpPr/>
          <p:nvPr/>
        </p:nvSpPr>
        <p:spPr>
          <a:xfrm>
            <a:off x="9353550" y="3105150"/>
            <a:ext cx="21526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안내 화면</a:t>
            </a:r>
            <a:endParaRPr/>
          </a:p>
        </p:txBody>
      </p:sp>
      <p:sp>
        <p:nvSpPr>
          <p:cNvPr id="121" name="Google Shape;121;p11"/>
          <p:cNvSpPr/>
          <p:nvPr/>
        </p:nvSpPr>
        <p:spPr>
          <a:xfrm>
            <a:off x="609600" y="3533775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1"/>
          <p:cNvSpPr/>
          <p:nvPr/>
        </p:nvSpPr>
        <p:spPr>
          <a:xfrm>
            <a:off x="685800" y="3609975"/>
            <a:ext cx="2895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대응 코파일럿</a:t>
            </a:r>
            <a:endParaRPr/>
          </a:p>
        </p:txBody>
      </p:sp>
      <p:sp>
        <p:nvSpPr>
          <p:cNvPr id="123" name="Google Shape;123;p11"/>
          <p:cNvSpPr/>
          <p:nvPr/>
        </p:nvSpPr>
        <p:spPr>
          <a:xfrm>
            <a:off x="3733800" y="3609975"/>
            <a:ext cx="5467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112·1332·118 연결과 대응 안내</a:t>
            </a:r>
            <a:endParaRPr/>
          </a:p>
        </p:txBody>
      </p:sp>
      <p:sp>
        <p:nvSpPr>
          <p:cNvPr id="124" name="Google Shape;124;p11"/>
          <p:cNvSpPr/>
          <p:nvPr/>
        </p:nvSpPr>
        <p:spPr>
          <a:xfrm>
            <a:off x="9353550" y="3609975"/>
            <a:ext cx="21526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고정 답변</a:t>
            </a:r>
            <a:endParaRPr/>
          </a:p>
        </p:txBody>
      </p:sp>
      <p:sp>
        <p:nvSpPr>
          <p:cNvPr id="125" name="Google Shape;125;p11"/>
          <p:cNvSpPr/>
          <p:nvPr/>
        </p:nvSpPr>
        <p:spPr>
          <a:xfrm>
            <a:off x="609600" y="40386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685800" y="4114800"/>
            <a:ext cx="28956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가족 보호 네트워크</a:t>
            </a:r>
            <a:endParaRPr/>
          </a:p>
        </p:txBody>
      </p:sp>
      <p:sp>
        <p:nvSpPr>
          <p:cNvPr id="127" name="Google Shape;127;p11"/>
          <p:cNvSpPr/>
          <p:nvPr/>
        </p:nvSpPr>
        <p:spPr>
          <a:xfrm>
            <a:off x="3733800" y="4114800"/>
            <a:ext cx="5467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위험 등급과 시각을 가족에게 공유</a:t>
            </a:r>
            <a:endParaRPr/>
          </a:p>
        </p:txBody>
      </p:sp>
      <p:sp>
        <p:nvSpPr>
          <p:cNvPr id="128" name="Google Shape;128;p11"/>
          <p:cNvSpPr/>
          <p:nvPr/>
        </p:nvSpPr>
        <p:spPr>
          <a:xfrm>
            <a:off x="9353550" y="4114800"/>
            <a:ext cx="21526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계획</a:t>
            </a:r>
            <a:endParaRPr/>
          </a:p>
        </p:txBody>
      </p:sp>
      <p:sp>
        <p:nvSpPr>
          <p:cNvPr id="129" name="Google Shape;129;p11"/>
          <p:cNvSpPr/>
          <p:nvPr/>
        </p:nvSpPr>
        <p:spPr>
          <a:xfrm>
            <a:off x="609600" y="4543425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609600" y="4953000"/>
            <a:ext cx="10972800" cy="742950"/>
          </a:xfrm>
          <a:prstGeom prst="roundRect">
            <a:avLst>
              <a:gd fmla="val 23077" name="adj"/>
            </a:avLst>
          </a:prstGeom>
          <a:solidFill>
            <a:srgbClr val="DFEA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1"/>
          <p:cNvSpPr/>
          <p:nvPr/>
        </p:nvSpPr>
        <p:spPr>
          <a:xfrm>
            <a:off x="838200" y="5191125"/>
            <a:ext cx="10287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시연 흐름   의심 링크 입력  →  위험 근거 확인  →  대응 안내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04  기술과 직접 개발 범위</a:t>
            </a:r>
            <a:endParaRPr/>
          </a:p>
        </p:txBody>
      </p:sp>
      <p:sp>
        <p:nvSpPr>
          <p:cNvPr id="138" name="Google Shape;138;p12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2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URL 검사는 규칙으로, 설명과 생성은 AI로 확장</a:t>
            </a:r>
            <a:endParaRPr/>
          </a:p>
        </p:txBody>
      </p:sp>
      <p:sp>
        <p:nvSpPr>
          <p:cNvPr id="141" name="Google Shape;141;p12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2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144" name="Google Shape;144;p12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45" name="Google Shape;145;p12"/>
          <p:cNvSpPr/>
          <p:nvPr/>
        </p:nvSpPr>
        <p:spPr>
          <a:xfrm>
            <a:off x="609600" y="1666875"/>
            <a:ext cx="5048250" cy="3238500"/>
          </a:xfrm>
          <a:prstGeom prst="roundRect">
            <a:avLst>
              <a:gd fmla="val 529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838200" y="1857375"/>
            <a:ext cx="4591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현재 구현</a:t>
            </a:r>
            <a:endParaRPr/>
          </a:p>
        </p:txBody>
      </p:sp>
      <p:sp>
        <p:nvSpPr>
          <p:cNvPr id="147" name="Google Shape;147;p12"/>
          <p:cNvSpPr/>
          <p:nvPr/>
        </p:nvSpPr>
        <p:spPr>
          <a:xfrm>
            <a:off x="838200" y="2238375"/>
            <a:ext cx="45910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브라우저 URL 판정</a:t>
            </a:r>
            <a:endParaRPr/>
          </a:p>
        </p:txBody>
      </p:sp>
      <p:sp>
        <p:nvSpPr>
          <p:cNvPr id="148" name="Google Shape;148;p12"/>
          <p:cNvSpPr/>
          <p:nvPr/>
        </p:nvSpPr>
        <p:spPr>
          <a:xfrm>
            <a:off x="838200" y="2905125"/>
            <a:ext cx="459105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도메인 정리와 공인 도메인 대조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편집거리와 닮은 글자 탐지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규칙 점수 합산과 판정 근거 표시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25">
              <a:solidFill>
                <a:srgbClr val="1623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입력 URL은 브라우저 안에서 처리</a:t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5848350" y="1666875"/>
            <a:ext cx="5143500" cy="3238500"/>
          </a:xfrm>
          <a:prstGeom prst="roundRect">
            <a:avLst>
              <a:gd fmla="val 5294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6076950" y="1857375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개발 계획</a:t>
            </a:r>
            <a:endParaRPr/>
          </a:p>
        </p:txBody>
      </p:sp>
      <p:sp>
        <p:nvSpPr>
          <p:cNvPr id="151" name="Google Shape;151;p12"/>
          <p:cNvSpPr/>
          <p:nvPr/>
        </p:nvSpPr>
        <p:spPr>
          <a:xfrm>
            <a:off x="6076950" y="2238375"/>
            <a:ext cx="4686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LLM과 검색 기반 안내</a:t>
            </a:r>
            <a:endParaRPr/>
          </a:p>
        </p:txBody>
      </p:sp>
      <p:sp>
        <p:nvSpPr>
          <p:cNvPr id="152" name="Google Shape;152;p12"/>
          <p:cNvSpPr/>
          <p:nvPr/>
        </p:nvSpPr>
        <p:spPr>
          <a:xfrm>
            <a:off x="6076950" y="2905125"/>
            <a:ext cx="468630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공식 대응 지침을 검색해 답변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제보를 바탕으로 시나리오 생성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25">
              <a:solidFill>
                <a:srgbClr val="1623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모델과 API는 선정 전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생성 콘텐츠는 사람 검수 후 배포</a:t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609600" y="5286375"/>
            <a:ext cx="10572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직접 개발: 판정 규칙, 점수 체계, 시뮬레이션 분기와 피드백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05  한계와 안전 설계</a:t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3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검사 결과는 판단을 돕는 근거입니다</a:t>
            </a: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166" name="Google Shape;166;p13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67" name="Google Shape;167;p13"/>
          <p:cNvSpPr/>
          <p:nvPr/>
        </p:nvSpPr>
        <p:spPr>
          <a:xfrm>
            <a:off x="609600" y="1685925"/>
            <a:ext cx="3333750" cy="3190875"/>
          </a:xfrm>
          <a:prstGeom prst="roundRect">
            <a:avLst>
              <a:gd fmla="val 5373" name="adj"/>
            </a:avLst>
          </a:prstGeom>
          <a:solidFill>
            <a:srgbClr val="DFEA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838200" y="1876425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개인정보</a:t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838200" y="2257425"/>
            <a:ext cx="2876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기기 안에서 검사</a:t>
            </a:r>
            <a:endParaRPr/>
          </a:p>
        </p:txBody>
      </p:sp>
      <p:sp>
        <p:nvSpPr>
          <p:cNvPr id="170" name="Google Shape;170;p13"/>
          <p:cNvSpPr/>
          <p:nvPr/>
        </p:nvSpPr>
        <p:spPr>
          <a:xfrm>
            <a:off x="838200" y="2924175"/>
            <a:ext cx="28765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URL 검사는 브라우저에서 실행합니다.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25">
              <a:solidFill>
                <a:srgbClr val="1623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가족 공유는 등급과 시각만 전달하도록 계획합니다.</a:t>
            </a:r>
            <a:endParaRPr/>
          </a:p>
        </p:txBody>
      </p:sp>
      <p:sp>
        <p:nvSpPr>
          <p:cNvPr id="171" name="Google Shape;171;p13"/>
          <p:cNvSpPr/>
          <p:nvPr/>
        </p:nvSpPr>
        <p:spPr>
          <a:xfrm>
            <a:off x="4133850" y="1685925"/>
            <a:ext cx="3333750" cy="3190875"/>
          </a:xfrm>
          <a:prstGeom prst="roundRect">
            <a:avLst>
              <a:gd fmla="val 537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4362450" y="1876425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해석</a:t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4362450" y="2257425"/>
            <a:ext cx="2876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정상은 안전 보장이 아님</a:t>
            </a:r>
            <a:endParaRPr/>
          </a:p>
        </p:txBody>
      </p:sp>
      <p:sp>
        <p:nvSpPr>
          <p:cNvPr id="174" name="Google Shape;174;p13"/>
          <p:cNvSpPr/>
          <p:nvPr/>
        </p:nvSpPr>
        <p:spPr>
          <a:xfrm>
            <a:off x="4362450" y="2924175"/>
            <a:ext cx="28765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드러난 위험 신호가 없다는 의미로 결과를 안내합니다.</a:t>
            </a:r>
            <a:endParaRPr/>
          </a:p>
        </p:txBody>
      </p:sp>
      <p:sp>
        <p:nvSpPr>
          <p:cNvPr id="175" name="Google Shape;175;p13"/>
          <p:cNvSpPr/>
          <p:nvPr/>
        </p:nvSpPr>
        <p:spPr>
          <a:xfrm>
            <a:off x="7658100" y="1685925"/>
            <a:ext cx="3333750" cy="3190875"/>
          </a:xfrm>
          <a:prstGeom prst="roundRect">
            <a:avLst>
              <a:gd fmla="val 5373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7886700" y="1876425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현재 한계</a:t>
            </a:r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7886700" y="2257425"/>
            <a:ext cx="2876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데이터 연결 전</a:t>
            </a:r>
            <a:endParaRPr/>
          </a:p>
        </p:txBody>
      </p:sp>
      <p:sp>
        <p:nvSpPr>
          <p:cNvPr id="178" name="Google Shape;178;p13"/>
          <p:cNvSpPr/>
          <p:nvPr/>
        </p:nvSpPr>
        <p:spPr>
          <a:xfrm>
            <a:off x="7886700" y="2924175"/>
            <a:ext cx="28765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KISA 피싱 DB와 WHOIS 실시간 조회는 아직 연결되지 않았습니다.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25">
              <a:solidFill>
                <a:srgbClr val="1623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예시 도메인 목록 밖 정상 사이트도 주의로 표시될 수 있습니다.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06  개발 환경과 기술 스택</a:t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정적 웹에서 시작해 API로 확장합니다</a:t>
            </a: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4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609600" y="1809750"/>
            <a:ext cx="3238500" cy="2762250"/>
          </a:xfrm>
          <a:prstGeom prst="roundRect">
            <a:avLst>
              <a:gd fmla="val 6207" name="adj"/>
            </a:avLst>
          </a:prstGeom>
          <a:solidFill>
            <a:srgbClr val="DFEA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838200" y="2000250"/>
            <a:ext cx="278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현재</a:t>
            </a:r>
            <a:endParaRPr/>
          </a:p>
        </p:txBody>
      </p:sp>
      <p:sp>
        <p:nvSpPr>
          <p:cNvPr id="194" name="Google Shape;194;p14"/>
          <p:cNvSpPr/>
          <p:nvPr/>
        </p:nvSpPr>
        <p:spPr>
          <a:xfrm>
            <a:off x="838200" y="2381250"/>
            <a:ext cx="278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모바일 웹</a:t>
            </a:r>
            <a:endParaRPr/>
          </a:p>
        </p:txBody>
      </p:sp>
      <p:sp>
        <p:nvSpPr>
          <p:cNvPr id="195" name="Google Shape;195;p14"/>
          <p:cNvSpPr/>
          <p:nvPr/>
        </p:nvSpPr>
        <p:spPr>
          <a:xfrm>
            <a:off x="838200" y="3048000"/>
            <a:ext cx="27813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HTML · CSS · JavaScript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빌드 없는 정적 웹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해시 라우터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브라우저 기반 URL 검사</a:t>
            </a:r>
            <a:endParaRPr/>
          </a:p>
        </p:txBody>
      </p:sp>
      <p:sp>
        <p:nvSpPr>
          <p:cNvPr id="196" name="Google Shape;196;p14"/>
          <p:cNvSpPr/>
          <p:nvPr/>
        </p:nvSpPr>
        <p:spPr>
          <a:xfrm>
            <a:off x="4095750" y="1809750"/>
            <a:ext cx="3238500" cy="2762250"/>
          </a:xfrm>
          <a:prstGeom prst="roundRect">
            <a:avLst>
              <a:gd fmla="val 620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4324350" y="2000250"/>
            <a:ext cx="278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계획</a:t>
            </a: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4324350" y="2381250"/>
            <a:ext cx="2781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백엔드와 AI</a:t>
            </a:r>
            <a:endParaRPr/>
          </a:p>
        </p:txBody>
      </p:sp>
      <p:sp>
        <p:nvSpPr>
          <p:cNvPr id="199" name="Google Shape;199;p14"/>
          <p:cNvSpPr/>
          <p:nvPr/>
        </p:nvSpPr>
        <p:spPr>
          <a:xfrm>
            <a:off x="4324350" y="3048000"/>
            <a:ext cx="27813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Python · FastAPI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LLM 기반 안내와 생성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모델 및 API 선정 예정</a:t>
            </a:r>
            <a:endParaRPr/>
          </a:p>
        </p:txBody>
      </p:sp>
      <p:sp>
        <p:nvSpPr>
          <p:cNvPr id="200" name="Google Shape;200;p14"/>
          <p:cNvSpPr/>
          <p:nvPr/>
        </p:nvSpPr>
        <p:spPr>
          <a:xfrm>
            <a:off x="7581900" y="1809750"/>
            <a:ext cx="3409950" cy="2762250"/>
          </a:xfrm>
          <a:prstGeom prst="roundRect">
            <a:avLst>
              <a:gd fmla="val 6207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7810500" y="2000250"/>
            <a:ext cx="2952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협업과 디자인</a:t>
            </a:r>
            <a:endParaRPr/>
          </a:p>
        </p:txBody>
      </p:sp>
      <p:sp>
        <p:nvSpPr>
          <p:cNvPr id="202" name="Google Shape;202;p14"/>
          <p:cNvSpPr/>
          <p:nvPr/>
        </p:nvSpPr>
        <p:spPr>
          <a:xfrm>
            <a:off x="7810500" y="2381250"/>
            <a:ext cx="2952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공동 제작 환경</a:t>
            </a:r>
            <a:endParaRPr/>
          </a:p>
        </p:txBody>
      </p:sp>
      <p:sp>
        <p:nvSpPr>
          <p:cNvPr id="203" name="Google Shape;203;p14"/>
          <p:cNvSpPr/>
          <p:nvPr/>
        </p:nvSpPr>
        <p:spPr>
          <a:xfrm>
            <a:off x="7810500" y="3048000"/>
            <a:ext cx="29527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GitHub와 PR 기반 협업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Pretendard · Lucide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CodySafe 브랜드 자산</a:t>
            </a:r>
            <a:endParaRPr/>
          </a:p>
        </p:txBody>
      </p:sp>
      <p:sp>
        <p:nvSpPr>
          <p:cNvPr id="204" name="Google Shape;204;p14"/>
          <p:cNvSpPr/>
          <p:nvPr/>
        </p:nvSpPr>
        <p:spPr>
          <a:xfrm>
            <a:off x="609600" y="5076825"/>
            <a:ext cx="10477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사용 환경: 스마트폰 모바일 브라우저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07  팀원별 역할 분담</a:t>
            </a:r>
            <a:endParaRPr/>
          </a:p>
        </p:txBody>
      </p:sp>
      <p:sp>
        <p:nvSpPr>
          <p:cNvPr id="211" name="Google Shape;211;p15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5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팀 유레카가 함께 만듭니다</a:t>
            </a:r>
            <a:endParaRPr/>
          </a:p>
        </p:txBody>
      </p:sp>
      <p:sp>
        <p:nvSpPr>
          <p:cNvPr id="214" name="Google Shape;214;p15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5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217" name="Google Shape;217;p15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18" name="Google Shape;218;p15"/>
          <p:cNvSpPr/>
          <p:nvPr/>
        </p:nvSpPr>
        <p:spPr>
          <a:xfrm>
            <a:off x="685800" y="1666875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팀원</a:t>
            </a:r>
            <a:endParaRPr/>
          </a:p>
        </p:txBody>
      </p:sp>
      <p:sp>
        <p:nvSpPr>
          <p:cNvPr id="219" name="Google Shape;219;p15"/>
          <p:cNvSpPr/>
          <p:nvPr/>
        </p:nvSpPr>
        <p:spPr>
          <a:xfrm>
            <a:off x="3543300" y="1666875"/>
            <a:ext cx="7962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역할 및 기여</a:t>
            </a:r>
            <a:endParaRPr/>
          </a:p>
        </p:txBody>
      </p:sp>
      <p:sp>
        <p:nvSpPr>
          <p:cNvPr id="220" name="Google Shape;220;p15"/>
          <p:cNvSpPr/>
          <p:nvPr/>
        </p:nvSpPr>
        <p:spPr>
          <a:xfrm>
            <a:off x="609600" y="2066925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685800" y="2238375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유상우 (팀장)</a:t>
            </a:r>
            <a:endParaRPr/>
          </a:p>
        </p:txBody>
      </p:sp>
      <p:sp>
        <p:nvSpPr>
          <p:cNvPr id="222" name="Google Shape;222;p15"/>
          <p:cNvSpPr/>
          <p:nvPr/>
        </p:nvSpPr>
        <p:spPr>
          <a:xfrm>
            <a:off x="3543300" y="2238375"/>
            <a:ext cx="7962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담당 업무와 기여 내용 확인 필요</a:t>
            </a:r>
            <a:endParaRPr/>
          </a:p>
        </p:txBody>
      </p:sp>
      <p:sp>
        <p:nvSpPr>
          <p:cNvPr id="223" name="Google Shape;223;p15"/>
          <p:cNvSpPr/>
          <p:nvPr/>
        </p:nvSpPr>
        <p:spPr>
          <a:xfrm>
            <a:off x="609600" y="2638425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685800" y="2828925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김동현</a:t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3543300" y="2828925"/>
            <a:ext cx="7962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담당 업무와 기여 내용 확인 필요</a:t>
            </a:r>
            <a:endParaRPr/>
          </a:p>
        </p:txBody>
      </p:sp>
      <p:sp>
        <p:nvSpPr>
          <p:cNvPr id="226" name="Google Shape;226;p15"/>
          <p:cNvSpPr/>
          <p:nvPr/>
        </p:nvSpPr>
        <p:spPr>
          <a:xfrm>
            <a:off x="609600" y="3228975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685800" y="3419475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김병국</a:t>
            </a:r>
            <a:endParaRPr/>
          </a:p>
        </p:txBody>
      </p:sp>
      <p:sp>
        <p:nvSpPr>
          <p:cNvPr id="228" name="Google Shape;228;p15"/>
          <p:cNvSpPr/>
          <p:nvPr/>
        </p:nvSpPr>
        <p:spPr>
          <a:xfrm>
            <a:off x="3543300" y="3419475"/>
            <a:ext cx="7962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담당 업무와 기여 내용 확인 필요</a:t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609600" y="3819525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685800" y="4010025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김호연</a:t>
            </a:r>
            <a:endParaRPr/>
          </a:p>
        </p:txBody>
      </p:sp>
      <p:sp>
        <p:nvSpPr>
          <p:cNvPr id="231" name="Google Shape;231;p15"/>
          <p:cNvSpPr/>
          <p:nvPr/>
        </p:nvSpPr>
        <p:spPr>
          <a:xfrm>
            <a:off x="3543300" y="4010025"/>
            <a:ext cx="7962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담당 업무와 기여 내용 확인 필요</a:t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609600" y="4410075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685800" y="4600575"/>
            <a:ext cx="2705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전선형</a:t>
            </a: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3543300" y="4600575"/>
            <a:ext cx="7962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담당 업무와 기여 내용 확인 필요</a:t>
            </a: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609600" y="5000625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609600" y="5514975"/>
            <a:ext cx="10477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원본 발표자료에 역할별 기여가 비어 있어 제출 전 작성이 필요합니다.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08  외부 자원 활용 내역</a:t>
            </a:r>
            <a:endParaRPr/>
          </a:p>
        </p:txBody>
      </p:sp>
      <p:sp>
        <p:nvSpPr>
          <p:cNvPr id="243" name="Google Shape;243;p16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6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사용한 자원과 사전 보유 코드를 확인합니다</a:t>
            </a:r>
            <a:endParaRPr/>
          </a:p>
        </p:txBody>
      </p:sp>
      <p:sp>
        <p:nvSpPr>
          <p:cNvPr id="246" name="Google Shape;246;p16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6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249" name="Google Shape;249;p16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685800" y="1600200"/>
            <a:ext cx="1562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구분</a:t>
            </a:r>
            <a:endParaRPr/>
          </a:p>
        </p:txBody>
      </p:sp>
      <p:sp>
        <p:nvSpPr>
          <p:cNvPr id="251" name="Google Shape;251;p16"/>
          <p:cNvSpPr/>
          <p:nvPr/>
        </p:nvSpPr>
        <p:spPr>
          <a:xfrm>
            <a:off x="2400300" y="1600200"/>
            <a:ext cx="3086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명칭</a:t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5638800" y="1600200"/>
            <a:ext cx="3467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용도</a:t>
            </a:r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9258300" y="1600200"/>
            <a:ext cx="2247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라이선스</a:t>
            </a:r>
            <a:endParaRPr/>
          </a:p>
        </p:txBody>
      </p:sp>
      <p:sp>
        <p:nvSpPr>
          <p:cNvPr id="254" name="Google Shape;254;p16"/>
          <p:cNvSpPr/>
          <p:nvPr/>
        </p:nvSpPr>
        <p:spPr>
          <a:xfrm>
            <a:off x="609600" y="19812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685800" y="2095500"/>
            <a:ext cx="1562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오픈소스</a:t>
            </a: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2400300" y="2095500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Pretendard 1.3.9</a:t>
            </a:r>
            <a:endParaRPr/>
          </a:p>
        </p:txBody>
      </p:sp>
      <p:sp>
        <p:nvSpPr>
          <p:cNvPr id="257" name="Google Shape;257;p16"/>
          <p:cNvSpPr/>
          <p:nvPr/>
        </p:nvSpPr>
        <p:spPr>
          <a:xfrm>
            <a:off x="5638800" y="2095500"/>
            <a:ext cx="3467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발표·서비스 글꼴</a:t>
            </a:r>
            <a:endParaRPr/>
          </a:p>
        </p:txBody>
      </p:sp>
      <p:sp>
        <p:nvSpPr>
          <p:cNvPr id="258" name="Google Shape;258;p16"/>
          <p:cNvSpPr/>
          <p:nvPr/>
        </p:nvSpPr>
        <p:spPr>
          <a:xfrm>
            <a:off x="9258300" y="2095500"/>
            <a:ext cx="2247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OFL</a:t>
            </a:r>
            <a:endParaRPr/>
          </a:p>
        </p:txBody>
      </p:sp>
      <p:sp>
        <p:nvSpPr>
          <p:cNvPr id="259" name="Google Shape;259;p16"/>
          <p:cNvSpPr/>
          <p:nvPr/>
        </p:nvSpPr>
        <p:spPr>
          <a:xfrm>
            <a:off x="609600" y="24955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685800" y="2571750"/>
            <a:ext cx="1562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오픈소스</a:t>
            </a:r>
            <a:endParaRPr/>
          </a:p>
        </p:txBody>
      </p:sp>
      <p:sp>
        <p:nvSpPr>
          <p:cNvPr id="261" name="Google Shape;261;p16"/>
          <p:cNvSpPr/>
          <p:nvPr/>
        </p:nvSpPr>
        <p:spPr>
          <a:xfrm>
            <a:off x="2400300" y="2571750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Lucide 0.460.0</a:t>
            </a:r>
            <a:endParaRPr/>
          </a:p>
        </p:txBody>
      </p:sp>
      <p:sp>
        <p:nvSpPr>
          <p:cNvPr id="262" name="Google Shape;262;p16"/>
          <p:cNvSpPr/>
          <p:nvPr/>
        </p:nvSpPr>
        <p:spPr>
          <a:xfrm>
            <a:off x="5638800" y="2571750"/>
            <a:ext cx="3467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서비스 아이콘</a:t>
            </a:r>
            <a:endParaRPr/>
          </a:p>
        </p:txBody>
      </p:sp>
      <p:sp>
        <p:nvSpPr>
          <p:cNvPr id="263" name="Google Shape;263;p16"/>
          <p:cNvSpPr/>
          <p:nvPr/>
        </p:nvSpPr>
        <p:spPr>
          <a:xfrm>
            <a:off x="9258300" y="2571750"/>
            <a:ext cx="2247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ISC</a:t>
            </a:r>
            <a:endParaRPr/>
          </a:p>
        </p:txBody>
      </p:sp>
      <p:sp>
        <p:nvSpPr>
          <p:cNvPr id="264" name="Google Shape;264;p16"/>
          <p:cNvSpPr/>
          <p:nvPr/>
        </p:nvSpPr>
        <p:spPr>
          <a:xfrm>
            <a:off x="609600" y="29718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685800" y="3048000"/>
            <a:ext cx="1562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외부 API</a:t>
            </a:r>
            <a:endParaRPr/>
          </a:p>
        </p:txBody>
      </p:sp>
      <p:sp>
        <p:nvSpPr>
          <p:cNvPr id="266" name="Google Shape;266;p16"/>
          <p:cNvSpPr/>
          <p:nvPr/>
        </p:nvSpPr>
        <p:spPr>
          <a:xfrm>
            <a:off x="2400300" y="3048000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확인 필요</a:t>
            </a:r>
            <a:endParaRPr/>
          </a:p>
        </p:txBody>
      </p:sp>
      <p:sp>
        <p:nvSpPr>
          <p:cNvPr id="267" name="Google Shape;267;p16"/>
          <p:cNvSpPr/>
          <p:nvPr/>
        </p:nvSpPr>
        <p:spPr>
          <a:xfrm>
            <a:off x="5638800" y="3048000"/>
            <a:ext cx="3467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실제 사용 내역 기재</a:t>
            </a:r>
            <a:endParaRPr/>
          </a:p>
        </p:txBody>
      </p:sp>
      <p:sp>
        <p:nvSpPr>
          <p:cNvPr id="268" name="Google Shape;268;p16"/>
          <p:cNvSpPr/>
          <p:nvPr/>
        </p:nvSpPr>
        <p:spPr>
          <a:xfrm>
            <a:off x="9258300" y="3048000"/>
            <a:ext cx="2247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확인 필요</a:t>
            </a:r>
            <a:endParaRPr/>
          </a:p>
        </p:txBody>
      </p:sp>
      <p:sp>
        <p:nvSpPr>
          <p:cNvPr id="269" name="Google Shape;269;p16"/>
          <p:cNvSpPr/>
          <p:nvPr/>
        </p:nvSpPr>
        <p:spPr>
          <a:xfrm>
            <a:off x="609600" y="34480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685800" y="3524250"/>
            <a:ext cx="1562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사전 보유 코드</a:t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2400300" y="3524250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확인 필요</a:t>
            </a:r>
            <a:endParaRPr/>
          </a:p>
        </p:txBody>
      </p:sp>
      <p:sp>
        <p:nvSpPr>
          <p:cNvPr id="272" name="Google Shape;272;p16"/>
          <p:cNvSpPr/>
          <p:nvPr/>
        </p:nvSpPr>
        <p:spPr>
          <a:xfrm>
            <a:off x="5638800" y="3524250"/>
            <a:ext cx="3467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주제 공개 전 보유 코드 기재</a:t>
            </a:r>
            <a:endParaRPr/>
          </a:p>
        </p:txBody>
      </p:sp>
      <p:sp>
        <p:nvSpPr>
          <p:cNvPr id="273" name="Google Shape;273;p16"/>
          <p:cNvSpPr/>
          <p:nvPr/>
        </p:nvSpPr>
        <p:spPr>
          <a:xfrm>
            <a:off x="9258300" y="3524250"/>
            <a:ext cx="2247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확인 필요</a:t>
            </a:r>
            <a:endParaRPr/>
          </a:p>
        </p:txBody>
      </p:sp>
      <p:sp>
        <p:nvSpPr>
          <p:cNvPr id="274" name="Google Shape;274;p16"/>
          <p:cNvSpPr/>
          <p:nvPr/>
        </p:nvSpPr>
        <p:spPr>
          <a:xfrm>
            <a:off x="609600" y="39243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685800" y="4000500"/>
            <a:ext cx="1562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기타</a:t>
            </a:r>
            <a:endParaRPr/>
          </a:p>
        </p:txBody>
      </p:sp>
      <p:sp>
        <p:nvSpPr>
          <p:cNvPr id="276" name="Google Shape;276;p16"/>
          <p:cNvSpPr/>
          <p:nvPr/>
        </p:nvSpPr>
        <p:spPr>
          <a:xfrm>
            <a:off x="2400300" y="4000500"/>
            <a:ext cx="3086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확인 필요</a:t>
            </a:r>
            <a:endParaRPr/>
          </a:p>
        </p:txBody>
      </p:sp>
      <p:sp>
        <p:nvSpPr>
          <p:cNvPr id="277" name="Google Shape;277;p16"/>
          <p:cNvSpPr/>
          <p:nvPr/>
        </p:nvSpPr>
        <p:spPr>
          <a:xfrm>
            <a:off x="5638800" y="4000500"/>
            <a:ext cx="3467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기타 자원 기재</a:t>
            </a:r>
            <a:endParaRPr/>
          </a:p>
        </p:txBody>
      </p:sp>
      <p:sp>
        <p:nvSpPr>
          <p:cNvPr id="278" name="Google Shape;278;p16"/>
          <p:cNvSpPr/>
          <p:nvPr/>
        </p:nvSpPr>
        <p:spPr>
          <a:xfrm>
            <a:off x="9258300" y="4000500"/>
            <a:ext cx="2247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확인 필요</a:t>
            </a:r>
            <a:endParaRPr/>
          </a:p>
        </p:txBody>
      </p:sp>
      <p:sp>
        <p:nvSpPr>
          <p:cNvPr id="279" name="Google Shape;279;p16"/>
          <p:cNvSpPr/>
          <p:nvPr/>
        </p:nvSpPr>
        <p:spPr>
          <a:xfrm>
            <a:off x="609600" y="44005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609600" y="4857750"/>
            <a:ext cx="10972800" cy="771525"/>
          </a:xfrm>
          <a:prstGeom prst="roundRect">
            <a:avLst>
              <a:gd fmla="val 22222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838200" y="5095875"/>
            <a:ext cx="10287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제출 전 실제 사용한 모든 외부 자원과 사전 보유 코드를 빠짐없이 확인해 주세요.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09  기대 효과와 실제 적용</a:t>
            </a:r>
            <a:endParaRPr/>
          </a:p>
        </p:txBody>
      </p:sp>
      <p:sp>
        <p:nvSpPr>
          <p:cNvPr id="288" name="Google Shape;288;p17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7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처음 보는 수법을, 한 번 겪어본 수법으로</a:t>
            </a:r>
            <a:endParaRPr/>
          </a:p>
        </p:txBody>
      </p:sp>
      <p:sp>
        <p:nvSpPr>
          <p:cNvPr id="291" name="Google Shape;291;p17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7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294" name="Google Shape;294;p17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95" name="Google Shape;295;p17"/>
          <p:cNvSpPr/>
          <p:nvPr/>
        </p:nvSpPr>
        <p:spPr>
          <a:xfrm>
            <a:off x="609600" y="1714500"/>
            <a:ext cx="3333750" cy="3048000"/>
          </a:xfrm>
          <a:prstGeom prst="roundRect">
            <a:avLst>
              <a:gd fmla="val 5625" name="adj"/>
            </a:avLst>
          </a:prstGeom>
          <a:solidFill>
            <a:srgbClr val="DFEA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838200" y="1905000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개인</a:t>
            </a:r>
            <a:endParaRPr/>
          </a:p>
        </p:txBody>
      </p:sp>
      <p:sp>
        <p:nvSpPr>
          <p:cNvPr id="297" name="Google Shape;297;p17"/>
          <p:cNvSpPr/>
          <p:nvPr/>
        </p:nvSpPr>
        <p:spPr>
          <a:xfrm>
            <a:off x="838200" y="2286000"/>
            <a:ext cx="2876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위험 신호 학습</a:t>
            </a:r>
            <a:endParaRPr/>
          </a:p>
        </p:txBody>
      </p:sp>
      <p:sp>
        <p:nvSpPr>
          <p:cNvPr id="298" name="Google Shape;298;p17"/>
          <p:cNvSpPr/>
          <p:nvPr/>
        </p:nvSpPr>
        <p:spPr>
          <a:xfrm>
            <a:off x="838200" y="2952750"/>
            <a:ext cx="2876550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대화형 체험으로 사기 수법을 미리 익힙니다.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25">
              <a:solidFill>
                <a:srgbClr val="16234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학습 효과는 전후 정답률 측정을 계획합니다.</a:t>
            </a:r>
            <a:endParaRPr/>
          </a:p>
        </p:txBody>
      </p:sp>
      <p:sp>
        <p:nvSpPr>
          <p:cNvPr id="299" name="Google Shape;299;p17"/>
          <p:cNvSpPr/>
          <p:nvPr/>
        </p:nvSpPr>
        <p:spPr>
          <a:xfrm>
            <a:off x="4133850" y="1714500"/>
            <a:ext cx="3333750" cy="3048000"/>
          </a:xfrm>
          <a:prstGeom prst="roundRect">
            <a:avLst>
              <a:gd fmla="val 56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4362450" y="1905000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가족</a:t>
            </a:r>
            <a:endParaRPr/>
          </a:p>
        </p:txBody>
      </p:sp>
      <p:sp>
        <p:nvSpPr>
          <p:cNvPr id="301" name="Google Shape;301;p17"/>
          <p:cNvSpPr/>
          <p:nvPr/>
        </p:nvSpPr>
        <p:spPr>
          <a:xfrm>
            <a:off x="4362450" y="2286000"/>
            <a:ext cx="2876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함께 확인하는 습관</a:t>
            </a:r>
            <a:endParaRPr/>
          </a:p>
        </p:txBody>
      </p:sp>
      <p:sp>
        <p:nvSpPr>
          <p:cNvPr id="302" name="Google Shape;302;p17"/>
          <p:cNvSpPr/>
          <p:nvPr/>
        </p:nvSpPr>
        <p:spPr>
          <a:xfrm>
            <a:off x="4362450" y="2952750"/>
            <a:ext cx="2876550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위험을 혼자 판단하지 않도록 가족 공유 기능을 계획합니다.</a:t>
            </a:r>
            <a:endParaRPr/>
          </a:p>
        </p:txBody>
      </p:sp>
      <p:sp>
        <p:nvSpPr>
          <p:cNvPr id="303" name="Google Shape;303;p17"/>
          <p:cNvSpPr/>
          <p:nvPr/>
        </p:nvSpPr>
        <p:spPr>
          <a:xfrm>
            <a:off x="7658100" y="1714500"/>
            <a:ext cx="3333750" cy="3048000"/>
          </a:xfrm>
          <a:prstGeom prst="roundRect">
            <a:avLst>
              <a:gd fmla="val 5625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7886700" y="1905000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사회</a:t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7886700" y="2286000"/>
            <a:ext cx="2876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예방 교육 확산</a:t>
            </a:r>
            <a:endParaRPr/>
          </a:p>
        </p:txBody>
      </p:sp>
      <p:sp>
        <p:nvSpPr>
          <p:cNvPr id="306" name="Google Shape;306;p17"/>
          <p:cNvSpPr/>
          <p:nvPr/>
        </p:nvSpPr>
        <p:spPr>
          <a:xfrm>
            <a:off x="7886700" y="2952750"/>
            <a:ext cx="2876550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모바일 웹을 복지관·지자체 교육과 가족 간 공유에 활용할 수 있습니다.</a:t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609600" y="5286375"/>
            <a:ext cx="104775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현재 수치는 기대 효과이며 실제 피해 감소 효과는 아직 측정하지 않았습니다.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/>
          <p:nvPr/>
        </p:nvSpPr>
        <p:spPr>
          <a:xfrm>
            <a:off x="609600" y="238125"/>
            <a:ext cx="9048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10  확장 가능성</a:t>
            </a:r>
            <a:endParaRPr/>
          </a:p>
        </p:txBody>
      </p:sp>
      <p:sp>
        <p:nvSpPr>
          <p:cNvPr id="314" name="Google Shape;314;p18"/>
          <p:cNvSpPr/>
          <p:nvPr/>
        </p:nvSpPr>
        <p:spPr>
          <a:xfrm>
            <a:off x="609600" y="72390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2090" y="190500"/>
            <a:ext cx="1141369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8"/>
          <p:cNvSpPr/>
          <p:nvPr/>
        </p:nvSpPr>
        <p:spPr>
          <a:xfrm>
            <a:off x="609600" y="847725"/>
            <a:ext cx="10906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웹에서 시작해 가족과 기관으로</a:t>
            </a:r>
            <a:endParaRPr/>
          </a:p>
        </p:txBody>
      </p:sp>
      <p:sp>
        <p:nvSpPr>
          <p:cNvPr id="317" name="Google Shape;317;p18"/>
          <p:cNvSpPr/>
          <p:nvPr/>
        </p:nvSpPr>
        <p:spPr>
          <a:xfrm>
            <a:off x="609600" y="6229350"/>
            <a:ext cx="10972800" cy="9525"/>
          </a:xfrm>
          <a:prstGeom prst="rect">
            <a:avLst/>
          </a:prstGeom>
          <a:solidFill>
            <a:srgbClr val="CDDA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363" y="6200775"/>
            <a:ext cx="9429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8"/>
          <p:cNvSpPr/>
          <p:nvPr/>
        </p:nvSpPr>
        <p:spPr>
          <a:xfrm>
            <a:off x="1752600" y="642937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팀 유레카 | 유상우 · 김동현 · 김병국 · 김호연 · 전선형</a:t>
            </a:r>
            <a:endParaRPr/>
          </a:p>
        </p:txBody>
      </p:sp>
      <p:sp>
        <p:nvSpPr>
          <p:cNvPr id="320" name="Google Shape;320;p18"/>
          <p:cNvSpPr/>
          <p:nvPr/>
        </p:nvSpPr>
        <p:spPr>
          <a:xfrm>
            <a:off x="11106150" y="63627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67708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21" name="Google Shape;321;p18"/>
          <p:cNvSpPr/>
          <p:nvPr/>
        </p:nvSpPr>
        <p:spPr>
          <a:xfrm>
            <a:off x="609600" y="1714500"/>
            <a:ext cx="3333750" cy="3143250"/>
          </a:xfrm>
          <a:prstGeom prst="roundRect">
            <a:avLst>
              <a:gd fmla="val 5455" name="adj"/>
            </a:avLst>
          </a:prstGeom>
          <a:solidFill>
            <a:srgbClr val="DFEA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838200" y="1905000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단기</a:t>
            </a:r>
            <a:endParaRPr/>
          </a:p>
        </p:txBody>
      </p:sp>
      <p:sp>
        <p:nvSpPr>
          <p:cNvPr id="323" name="Google Shape;323;p18"/>
          <p:cNvSpPr/>
          <p:nvPr/>
        </p:nvSpPr>
        <p:spPr>
          <a:xfrm>
            <a:off x="838200" y="2286000"/>
            <a:ext cx="2876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핵심 기능 연결</a:t>
            </a:r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838200" y="2952750"/>
            <a:ext cx="2876550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LLM 안내와 시나리오 생성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KISA 피싱 DB·WHOIS 조회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가족 공유 기능</a:t>
            </a:r>
            <a:endParaRPr/>
          </a:p>
        </p:txBody>
      </p:sp>
      <p:sp>
        <p:nvSpPr>
          <p:cNvPr id="325" name="Google Shape;325;p18"/>
          <p:cNvSpPr/>
          <p:nvPr/>
        </p:nvSpPr>
        <p:spPr>
          <a:xfrm>
            <a:off x="4133850" y="1714500"/>
            <a:ext cx="3333750" cy="314325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4362450" y="1905000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중기</a:t>
            </a:r>
            <a:endParaRPr/>
          </a:p>
        </p:txBody>
      </p:sp>
      <p:sp>
        <p:nvSpPr>
          <p:cNvPr id="327" name="Google Shape;327;p18"/>
          <p:cNvSpPr/>
          <p:nvPr/>
        </p:nvSpPr>
        <p:spPr>
          <a:xfrm>
            <a:off x="4362450" y="2286000"/>
            <a:ext cx="2876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안드로이드 확장</a:t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>
            <a:off x="4362450" y="2952750"/>
            <a:ext cx="2876550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위험 행동 흐름 감지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가족 승인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QR 판독 모듈</a:t>
            </a:r>
            <a:endParaRPr/>
          </a:p>
        </p:txBody>
      </p:sp>
      <p:sp>
        <p:nvSpPr>
          <p:cNvPr id="329" name="Google Shape;329;p18"/>
          <p:cNvSpPr/>
          <p:nvPr/>
        </p:nvSpPr>
        <p:spPr>
          <a:xfrm>
            <a:off x="7658100" y="1714500"/>
            <a:ext cx="3333750" cy="3143250"/>
          </a:xfrm>
          <a:prstGeom prst="roundRect">
            <a:avLst>
              <a:gd fmla="val 5455" name="adj"/>
            </a:avLst>
          </a:prstGeom>
          <a:solidFill>
            <a:srgbClr val="EDF3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7886700" y="1905000"/>
            <a:ext cx="2876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장기</a:t>
            </a:r>
            <a:endParaRPr/>
          </a:p>
        </p:txBody>
      </p:sp>
      <p:sp>
        <p:nvSpPr>
          <p:cNvPr id="331" name="Google Shape;331;p18"/>
          <p:cNvSpPr/>
          <p:nvPr/>
        </p:nvSpPr>
        <p:spPr>
          <a:xfrm>
            <a:off x="7886700" y="2286000"/>
            <a:ext cx="28765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교육과 제휴</a:t>
            </a:r>
            <a:endParaRPr/>
          </a:p>
        </p:txBody>
      </p:sp>
      <p:sp>
        <p:nvSpPr>
          <p:cNvPr id="332" name="Google Shape;332;p18"/>
          <p:cNvSpPr/>
          <p:nvPr/>
        </p:nvSpPr>
        <p:spPr>
          <a:xfrm>
            <a:off x="7886700" y="2952750"/>
            <a:ext cx="2876550" cy="176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지자체·복지관·경찰 예방교육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금융사·통신사 연동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62340"/>
                </a:solidFill>
                <a:latin typeface="Arial"/>
                <a:ea typeface="Arial"/>
                <a:cs typeface="Arial"/>
                <a:sym typeface="Arial"/>
              </a:rPr>
              <a:t>기업 보안교육</a:t>
            </a:r>
            <a:endParaRPr/>
          </a:p>
        </p:txBody>
      </p:sp>
      <p:sp>
        <p:nvSpPr>
          <p:cNvPr id="333" name="Google Shape;333;p18"/>
          <p:cNvSpPr/>
          <p:nvPr/>
        </p:nvSpPr>
        <p:spPr>
          <a:xfrm>
            <a:off x="609600" y="5381625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047AB"/>
                </a:solidFill>
                <a:latin typeface="Arial"/>
                <a:ea typeface="Arial"/>
                <a:cs typeface="Arial"/>
                <a:sym typeface="Arial"/>
              </a:rPr>
              <a:t>사기 수법을 먼저 경험하고, 실제 상황에서는 함께 대응합니다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