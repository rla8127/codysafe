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" name="Google Shape;28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한 문장으로 시작: 탐지 다음에 무엇을 할 것인가를 가족과 함께 푸는 서비스입니다.</a:t>
            </a:r>
          </a:p>
        </p:txBody>
      </p:sp>
      <p:sp>
        <p:nvSpPr>
          <p:cNvPr id="29" name="Google Shape;29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" name="Google Shape;39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약 50초. 숫자보다 혼자 있는 순간과 가족이 뒤늦게 아는 상황을 강조합니다.</a:t>
            </a:r>
          </a:p>
        </p:txBody>
      </p:sp>
      <p:sp>
        <p:nvSpPr>
          <p:cNvPr id="40" name="Google Shape;40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약 40초. 실시간을 못 한다가 아니라 운영체제 제약 때문에 다음 단계에 집중했다고 설명합니다. 근거: Android 개발자 문서.</a:t>
            </a:r>
          </a:p>
        </p:txBody>
      </p:sp>
      <p:sp>
        <p:nvSpPr>
          <p:cNvPr id="70" name="Google Shape;70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이 슬라이드는 라이브 시연으로 대체할 수 있습니다. 시연 순서: 새 녹음 감지 → 판정과 근거 → 금융 앱 차단 → 가족 알림 → 암구호 확인과 해제.</a:t>
            </a:r>
          </a:p>
        </p:txBody>
      </p:sp>
      <p:sp>
        <p:nvSpPr>
          <p:cNvPr id="96" name="Google Shape;96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약 40초. 외부 API와 직접 구현을 먼저 구분해 말합니다. 자체 학습 모델이 없다는 점도 숨기지 않습니다.</a:t>
            </a:r>
          </a:p>
        </p:txBody>
      </p:sp>
      <p:sp>
        <p:nvSpPr>
          <p:cNvPr id="135" name="Google Shape;135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6" name="Google Shape;156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핵심 슬라이드, 약 40초. 환각 차단과 오탐 복구를 강조합니다. 음성 보관 질문이 나오면 시연 서버 설정을 그대로 답합니다.</a:t>
            </a:r>
          </a:p>
        </p:txBody>
      </p:sp>
      <p:sp>
        <p:nvSpPr>
          <p:cNvPr id="157" name="Google Shape;157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1" name="Google Shape;181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아키텍처로 흐름을 짧게 설명합니다. 화면은 WebView로 공유해 APK 재빌드 없이 고칠 수 있고, 네이티브는 폴더 접근, 동기화, 차단만 맡습니다. Langfuse 수치는 1건 예시이며 성능 평균이 아닙니다.</a:t>
            </a:r>
          </a:p>
        </p:txBody>
      </p:sp>
      <p:sp>
        <p:nvSpPr>
          <p:cNvPr id="182" name="Google Shape;182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7" name="Google Shape;207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협업 항목은 20점입니다. 커밋에 드러나지 않는 기여를 구체적으로 말합니다. 각자 본인 내용을 확인합니다.</a:t>
            </a:r>
          </a:p>
        </p:txBody>
      </p:sp>
      <p:sp>
        <p:nvSpPr>
          <p:cNvPr id="208" name="Google Shape;208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9" name="Google Shape;239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심사 자료용 슬라이드입니다. 외부 자원 미기재는 실격 사유이므로 제출 전 팀원 전원에게 확인합니다.</a:t>
            </a:r>
          </a:p>
        </p:txBody>
      </p:sp>
      <p:sp>
        <p:nvSpPr>
          <p:cNvPr id="240" name="Google Shape;240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4" name="Google Shape;284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약 30초. 100%라고 말하지 않습니다. 합성 평가라는 점과 실제 통화 미측정을 먼저 밝힙니다.</a:t>
            </a:r>
          </a:p>
        </p:txBody>
      </p:sp>
      <p:sp>
        <p:nvSpPr>
          <p:cNvPr id="285" name="Google Shape;285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0" name="Google Shape;310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약 30초. 마지막 문장으로 마무리하고 Q&amp;A로 넘어갑니다.</a:t>
            </a:r>
          </a:p>
        </p:txBody>
      </p:sp>
      <p:sp>
        <p:nvSpPr>
          <p:cNvPr id="311" name="Google Shape;311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i="0" sz="4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sz="4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sz="4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sz="4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sz="4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sz="4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sz="4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sz="4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sz="4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/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5"/>
          <p:cNvSpPr txBox="1"/>
          <p:nvPr>
            <p:ph idx="1" type="body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71475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71475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71475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71475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71475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71475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71475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71475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71475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">
  <p:cSld name="Title and Two Column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"/>
          <p:cNvSpPr txBox="1"/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6"/>
          <p:cNvSpPr txBox="1"/>
          <p:nvPr>
            <p:ph idx="1" type="body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6195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1950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61950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1950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61950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61950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61950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61950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61950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6"/>
          <p:cNvSpPr txBox="1"/>
          <p:nvPr>
            <p:ph idx="2" type="body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6195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1950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61950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1950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61950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61950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61950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61950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61950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One Column">
  <p:cSld name="Title and One Column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/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7"/>
          <p:cNvSpPr txBox="1"/>
          <p:nvPr>
            <p:ph idx="1" type="body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71475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71475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71475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71475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71475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71475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71475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71475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71475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jpg"/><Relationship Id="rId6" Type="http://schemas.openxmlformats.org/officeDocument/2006/relationships/image" Target="../media/image4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jpg"/><Relationship Id="rId6" Type="http://schemas.openxmlformats.org/officeDocument/2006/relationships/image" Target="../media/image3.jpg"/><Relationship Id="rId7" Type="http://schemas.openxmlformats.org/officeDocument/2006/relationships/image" Target="../media/image4.jpg"/><Relationship Id="rId8" Type="http://schemas.openxmlformats.org/officeDocument/2006/relationships/image" Target="../media/image6.jp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2463" y="5715000"/>
            <a:ext cx="942975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8"/>
          <p:cNvSpPr/>
          <p:nvPr/>
        </p:nvSpPr>
        <p:spPr>
          <a:xfrm>
            <a:off x="7848600" y="0"/>
            <a:ext cx="4343400" cy="685800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" name="Google Shape;3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7699" y="514350"/>
            <a:ext cx="3532811" cy="1238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8"/>
          <p:cNvSpPr/>
          <p:nvPr/>
        </p:nvSpPr>
        <p:spPr>
          <a:xfrm>
            <a:off x="647700" y="1905000"/>
            <a:ext cx="695325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1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전화를 끊은 뒤,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1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가족과 함께 막습니다</a:t>
            </a:r>
            <a:endParaRPr/>
          </a:p>
        </p:txBody>
      </p:sp>
      <p:sp>
        <p:nvSpPr>
          <p:cNvPr id="35" name="Google Shape;35;p8"/>
          <p:cNvSpPr/>
          <p:nvPr/>
        </p:nvSpPr>
        <p:spPr>
          <a:xfrm>
            <a:off x="666750" y="4152900"/>
            <a:ext cx="6429375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코디세이 AI 해커톤 2026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주제 02  AI 기반 정보보호 서비스</a:t>
            </a:r>
            <a:endParaRPr/>
          </a:p>
        </p:txBody>
      </p:sp>
      <p:sp>
        <p:nvSpPr>
          <p:cNvPr id="36" name="Google Shape;36;p8"/>
          <p:cNvSpPr/>
          <p:nvPr/>
        </p:nvSpPr>
        <p:spPr>
          <a:xfrm>
            <a:off x="1752600" y="5962650"/>
            <a:ext cx="5810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677086"/>
                </a:solidFill>
                <a:latin typeface="Arial"/>
                <a:ea typeface="Arial"/>
                <a:cs typeface="Arial"/>
                <a:sym typeface="Arial"/>
              </a:rPr>
              <a:t>팀 유레카 | 유상우 · 김동현 · 김병국 · 김호연 · 전선형</a:t>
            </a:r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67512" y="4846320"/>
            <a:ext cx="6583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>
                <a:solidFill>
                  <a:srgbClr val="677086"/>
                </a:solidFill>
                <a:latin typeface="Arial"/>
              </a:rPr>
              <a:t>통화 녹음을 AI로 분석해 근거를 보여 주고, 가족에게 알리고, 금융 앱을 잠그는 보이스피싱 후속 대응 서비스</a:t>
            </a:r>
          </a:p>
        </p:txBody>
      </p:sp>
      <p:pic>
        <p:nvPicPr>
          <p:cNvPr id="38" name="Picture 37" descr="evidenc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4152" y="1371600"/>
            <a:ext cx="1828800" cy="3602736"/>
          </a:xfrm>
          <a:prstGeom prst="rect">
            <a:avLst/>
          </a:prstGeom>
        </p:spPr>
      </p:pic>
      <p:pic>
        <p:nvPicPr>
          <p:cNvPr id="39" name="Picture 38" descr="lock-modal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31552" y="1371600"/>
            <a:ext cx="1828800" cy="3602736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074152" y="5138928"/>
            <a:ext cx="3886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5" b="0">
                <a:solidFill>
                  <a:srgbClr val="FFFFFF"/>
                </a:solidFill>
                <a:latin typeface="Arial"/>
              </a:rPr>
              <a:t>실제 안드로이드 폰 화면 (테스트 통화)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609600" y="238125"/>
            <a:ext cx="9048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0047AB"/>
                </a:solidFill>
                <a:latin typeface="Arial"/>
                <a:ea typeface="Arial"/>
                <a:cs typeface="Arial"/>
                <a:sym typeface="Arial"/>
              </a:rPr>
              <a:t>01  문제 정의와 목표 사용자</a:t>
            </a:r>
            <a:endParaRPr/>
          </a:p>
        </p:txBody>
      </p:sp>
      <p:sp>
        <p:nvSpPr>
          <p:cNvPr id="43" name="Google Shape;43;p9"/>
          <p:cNvSpPr/>
          <p:nvPr/>
        </p:nvSpPr>
        <p:spPr>
          <a:xfrm>
            <a:off x="609600" y="723900"/>
            <a:ext cx="10972800" cy="9525"/>
          </a:xfrm>
          <a:prstGeom prst="rect">
            <a:avLst/>
          </a:prstGeom>
          <a:solidFill>
            <a:srgbClr val="CDDA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" name="Google Shape;4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2090" y="190500"/>
            <a:ext cx="1141369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9"/>
          <p:cNvSpPr/>
          <p:nvPr/>
        </p:nvSpPr>
        <p:spPr>
          <a:xfrm>
            <a:off x="609600" y="847725"/>
            <a:ext cx="109061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속은 사람은 혼자 있고, 가족은 뒤늦게 압니다</a:t>
            </a:r>
            <a:endParaRPr/>
          </a:p>
        </p:txBody>
      </p:sp>
      <p:sp>
        <p:nvSpPr>
          <p:cNvPr id="46" name="Google Shape;46;p9"/>
          <p:cNvSpPr/>
          <p:nvPr/>
        </p:nvSpPr>
        <p:spPr>
          <a:xfrm>
            <a:off x="609600" y="6229350"/>
            <a:ext cx="10972800" cy="9525"/>
          </a:xfrm>
          <a:prstGeom prst="rect">
            <a:avLst/>
          </a:prstGeom>
          <a:solidFill>
            <a:srgbClr val="CDDA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" name="Google Shape;4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4363" y="6200775"/>
            <a:ext cx="942975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9"/>
          <p:cNvSpPr/>
          <p:nvPr/>
        </p:nvSpPr>
        <p:spPr>
          <a:xfrm>
            <a:off x="1752600" y="6429375"/>
            <a:ext cx="85725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677086"/>
                </a:solidFill>
                <a:latin typeface="Arial"/>
                <a:ea typeface="Arial"/>
                <a:cs typeface="Arial"/>
                <a:sym typeface="Arial"/>
              </a:rPr>
              <a:t>팀 유레카 | 유상우 · 김동현 · 김병국 · 김호연 · 전선형</a:t>
            </a:r>
            <a:endParaRPr/>
          </a:p>
        </p:txBody>
      </p:sp>
      <p:sp>
        <p:nvSpPr>
          <p:cNvPr id="49" name="Google Shape;49;p9"/>
          <p:cNvSpPr/>
          <p:nvPr/>
        </p:nvSpPr>
        <p:spPr>
          <a:xfrm>
            <a:off x="11106150" y="6362700"/>
            <a:ext cx="476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677086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612648" y="1600200"/>
            <a:ext cx="3566160" cy="1600200"/>
          </a:xfrm>
          <a:prstGeom prst="roundRect">
            <a:avLst>
              <a:gd name="adj" fmla="val 6000"/>
            </a:avLst>
          </a:prstGeom>
          <a:solidFill>
            <a:srgbClr val="DF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1248" y="1737360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25" b="1">
                <a:solidFill>
                  <a:srgbClr val="0047AB"/>
                </a:solidFill>
                <a:latin typeface="Arial"/>
              </a:rPr>
              <a:t>건당 피해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248" y="1984248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162340"/>
                </a:solidFill>
                <a:latin typeface="Arial"/>
              </a:rPr>
              <a:t>5,384만 원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" y="2487168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>
                <a:solidFill>
                  <a:srgbClr val="162340"/>
                </a:solidFill>
                <a:latin typeface="Arial"/>
              </a:rPr>
              <a:t>2025년 보이스피싱 건당 피해액</a:t>
            </a:r>
          </a:p>
          <a:p>
            <a:r>
              <a:rPr sz="1300" b="0">
                <a:solidFill>
                  <a:srgbClr val="162340"/>
                </a:solidFill>
                <a:latin typeface="Arial"/>
              </a:rPr>
              <a:t>(전년 2,500만 원)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315968" y="1600200"/>
            <a:ext cx="356616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DDA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44568" y="1737360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25" b="1">
                <a:solidFill>
                  <a:srgbClr val="0047AB"/>
                </a:solidFill>
                <a:latin typeface="Arial"/>
              </a:rPr>
              <a:t>건수와 피해액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44568" y="1984248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162340"/>
                </a:solidFill>
                <a:latin typeface="Arial"/>
              </a:rPr>
              <a:t>+62.4%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44568" y="2487168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>
                <a:solidFill>
                  <a:srgbClr val="162340"/>
                </a:solidFill>
                <a:latin typeface="Arial"/>
              </a:rPr>
              <a:t>발생 건수는 24.6% 줄었지만</a:t>
            </a:r>
          </a:p>
          <a:p>
            <a:r>
              <a:rPr sz="1300" b="0">
                <a:solidFill>
                  <a:srgbClr val="162340"/>
                </a:solidFill>
                <a:latin typeface="Arial"/>
              </a:rPr>
              <a:t>피해액은 늘었습니다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019288" y="1600200"/>
            <a:ext cx="3566160" cy="1600200"/>
          </a:xfrm>
          <a:prstGeom prst="roundRect">
            <a:avLst>
              <a:gd name="adj" fmla="val 6000"/>
            </a:avLst>
          </a:prstGeom>
          <a:solidFill>
            <a:srgbClr val="ED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47888" y="1737360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25" b="1">
                <a:solidFill>
                  <a:srgbClr val="0047AB"/>
                </a:solidFill>
                <a:latin typeface="Arial"/>
              </a:rPr>
              <a:t>주요 수법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47888" y="1984248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162340"/>
                </a:solidFill>
                <a:latin typeface="Arial"/>
              </a:rPr>
              <a:t>78.6%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47888" y="2487168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>
                <a:solidFill>
                  <a:srgbClr val="162340"/>
                </a:solidFill>
                <a:latin typeface="Arial"/>
              </a:rPr>
              <a:t>피해액 중 기관 사칭형 비중</a:t>
            </a:r>
          </a:p>
          <a:p>
            <a:r>
              <a:rPr sz="1300" b="0">
                <a:solidFill>
                  <a:srgbClr val="162340"/>
                </a:solidFill>
                <a:latin typeface="Arial"/>
              </a:rPr>
              <a:t>(1조 2,578억 원 중 9,884억 원)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2648" y="3364992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0047AB"/>
                </a:solidFill>
                <a:latin typeface="Arial"/>
              </a:rPr>
              <a:t>우리가 본 빈틈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2648" y="3721608"/>
            <a:ext cx="53035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350" b="1">
                <a:solidFill>
                  <a:srgbClr val="162340"/>
                </a:solidFill>
                <a:latin typeface="Arial"/>
              </a:rPr>
              <a:t>혼자 멈추기 어렵습니다. </a:t>
            </a:r>
            <a:r>
              <a:rPr sz="1350" b="0">
                <a:solidFill>
                  <a:srgbClr val="162340"/>
                </a:solidFill>
                <a:latin typeface="Arial"/>
              </a:rPr>
              <a:t>사기범은 끊지 말라, 말하지 말라고 몰아붙입니다.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62340"/>
                </a:solidFill>
                <a:latin typeface="Arial"/>
              </a:rPr>
              <a:t>가족은 돕기 어렵습니다. </a:t>
            </a:r>
            <a:r>
              <a:rPr sz="1350" b="0">
                <a:solidFill>
                  <a:srgbClr val="162340"/>
                </a:solidFill>
                <a:latin typeface="Arial"/>
              </a:rPr>
              <a:t>통화 내용을 통째로 공유하는 것은 사생활 문제입니다.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62340"/>
                </a:solidFill>
                <a:latin typeface="Arial"/>
              </a:rPr>
              <a:t>목소리를 믿기 어렵습니다. </a:t>
            </a:r>
            <a:r>
              <a:rPr sz="1350" b="0">
                <a:solidFill>
                  <a:srgbClr val="162340"/>
                </a:solidFill>
                <a:latin typeface="Arial"/>
              </a:rPr>
              <a:t>AI 음성 때문에 목소리만으로 가족임을 확인할 수 없습니다.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0" y="3364992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0047AB"/>
                </a:solidFill>
                <a:latin typeface="Arial"/>
              </a:rPr>
              <a:t>목표 사용자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400800" y="3721608"/>
            <a:ext cx="2487168" cy="1920240"/>
          </a:xfrm>
          <a:prstGeom prst="roundRect">
            <a:avLst>
              <a:gd name="adj" fmla="val 5000"/>
            </a:avLst>
          </a:prstGeom>
          <a:solidFill>
            <a:srgbClr val="ED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9098280" y="3721608"/>
            <a:ext cx="2487168" cy="1920240"/>
          </a:xfrm>
          <a:prstGeom prst="roundRect">
            <a:avLst>
              <a:gd name="adj" fmla="val 5000"/>
            </a:avLst>
          </a:prstGeom>
          <a:solidFill>
            <a:srgbClr val="ED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565392" y="3840480"/>
            <a:ext cx="2157984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162340"/>
                </a:solidFill>
                <a:latin typeface="Arial"/>
              </a:rPr>
              <a:t>보호 대상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62340"/>
                </a:solidFill>
                <a:latin typeface="Arial"/>
              </a:rPr>
              <a:t>삼성 휴대폰으로 통화를 녹음하는, 보이스피싱에 노출된 사람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62872" y="3840480"/>
            <a:ext cx="2157984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162340"/>
                </a:solidFill>
                <a:latin typeface="Arial"/>
              </a:rPr>
              <a:t>가족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62340"/>
                </a:solidFill>
                <a:latin typeface="Arial"/>
              </a:rPr>
              <a:t>금융 피해를 걱정하지만 통화 내용까지 보고 싶지는 않은 사람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2648" y="5870448"/>
            <a:ext cx="10972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0">
                <a:solidFill>
                  <a:srgbClr val="677086"/>
                </a:solidFill>
                <a:latin typeface="Arial"/>
              </a:rPr>
              <a:t>출처: 국회 제출 자료, 매일신문 2026-09-23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/>
          <p:nvPr/>
        </p:nvSpPr>
        <p:spPr>
          <a:xfrm>
            <a:off x="609600" y="238125"/>
            <a:ext cx="9048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0047AB"/>
                </a:solidFill>
                <a:latin typeface="Arial"/>
                <a:ea typeface="Arial"/>
                <a:cs typeface="Arial"/>
                <a:sym typeface="Arial"/>
              </a:rPr>
              <a:t>02  해결 방안</a:t>
            </a:r>
            <a:endParaRPr/>
          </a:p>
        </p:txBody>
      </p:sp>
      <p:sp>
        <p:nvSpPr>
          <p:cNvPr id="73" name="Google Shape;73;p10"/>
          <p:cNvSpPr/>
          <p:nvPr/>
        </p:nvSpPr>
        <p:spPr>
          <a:xfrm>
            <a:off x="609600" y="723900"/>
            <a:ext cx="10972800" cy="9525"/>
          </a:xfrm>
          <a:prstGeom prst="rect">
            <a:avLst/>
          </a:prstGeom>
          <a:solidFill>
            <a:srgbClr val="CDDA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" name="Google Shape;7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2090" y="190500"/>
            <a:ext cx="1141369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0"/>
          <p:cNvSpPr/>
          <p:nvPr/>
        </p:nvSpPr>
        <p:spPr>
          <a:xfrm>
            <a:off x="609600" y="847725"/>
            <a:ext cx="109061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실시간 탐지와 경쟁하지 않고, 그다음 단계를 맡습니다</a:t>
            </a:r>
            <a:endParaRPr/>
          </a:p>
        </p:txBody>
      </p:sp>
      <p:sp>
        <p:nvSpPr>
          <p:cNvPr id="76" name="Google Shape;76;p10"/>
          <p:cNvSpPr/>
          <p:nvPr/>
        </p:nvSpPr>
        <p:spPr>
          <a:xfrm>
            <a:off x="609600" y="6229350"/>
            <a:ext cx="10972800" cy="9525"/>
          </a:xfrm>
          <a:prstGeom prst="rect">
            <a:avLst/>
          </a:prstGeom>
          <a:solidFill>
            <a:srgbClr val="CDDA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" name="Google Shape;7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4363" y="6200775"/>
            <a:ext cx="942975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0"/>
          <p:cNvSpPr/>
          <p:nvPr/>
        </p:nvSpPr>
        <p:spPr>
          <a:xfrm>
            <a:off x="1752600" y="6429375"/>
            <a:ext cx="85725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677086"/>
                </a:solidFill>
                <a:latin typeface="Arial"/>
                <a:ea typeface="Arial"/>
                <a:cs typeface="Arial"/>
                <a:sym typeface="Arial"/>
              </a:rPr>
              <a:t>팀 유레카 | 유상우 · 김동현 · 김병국 · 김호연 · 전선형</a:t>
            </a:r>
            <a:endParaRPr/>
          </a:p>
        </p:txBody>
      </p:sp>
      <p:sp>
        <p:nvSpPr>
          <p:cNvPr id="79" name="Google Shape;79;p10"/>
          <p:cNvSpPr/>
          <p:nvPr/>
        </p:nvSpPr>
        <p:spPr>
          <a:xfrm>
            <a:off x="11106150" y="6362700"/>
            <a:ext cx="476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677086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80" name="Rounded Rectangle 79"/>
          <p:cNvSpPr/>
          <p:nvPr/>
        </p:nvSpPr>
        <p:spPr>
          <a:xfrm>
            <a:off x="612648" y="1572768"/>
            <a:ext cx="1609344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4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85800" y="1572768"/>
            <a:ext cx="14630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62340"/>
                </a:solidFill>
                <a:latin typeface="Arial"/>
              </a:rPr>
              <a:t>통화 녹음 폴더</a:t>
            </a:r>
          </a:p>
          <a:p>
            <a:pPr algn="ctr"/>
            <a:r>
              <a:rPr sz="1100" b="0">
                <a:solidFill>
                  <a:srgbClr val="677086"/>
                </a:solidFill>
                <a:latin typeface="Arial"/>
              </a:rPr>
              <a:t>안드로이드 앱 연동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221992" y="1572768"/>
            <a:ext cx="263347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0047AB"/>
                </a:solidFill>
                <a:latin typeface="Arial"/>
              </a:rPr>
              <a:t>→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2485339" y="1572768"/>
            <a:ext cx="1609344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4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558491" y="1572768"/>
            <a:ext cx="14630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62340"/>
                </a:solidFill>
                <a:latin typeface="Arial"/>
              </a:rPr>
              <a:t>기기별 S3 저장</a:t>
            </a:r>
          </a:p>
          <a:p>
            <a:pPr algn="ctr"/>
            <a:r>
              <a:rPr sz="1100" b="0">
                <a:solidFill>
                  <a:srgbClr val="677086"/>
                </a:solidFill>
                <a:latin typeface="Arial"/>
              </a:rPr>
              <a:t>임시 업로드 링크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094683" y="1572768"/>
            <a:ext cx="263347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0047AB"/>
                </a:solidFill>
                <a:latin typeface="Arial"/>
              </a:rPr>
              <a:t>→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358030" y="1572768"/>
            <a:ext cx="1609344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4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431182" y="1572768"/>
            <a:ext cx="14630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62340"/>
                </a:solidFill>
                <a:latin typeface="Arial"/>
              </a:rPr>
              <a:t>STT</a:t>
            </a:r>
          </a:p>
          <a:p>
            <a:pPr algn="ctr"/>
            <a:r>
              <a:rPr sz="1100" b="0">
                <a:solidFill>
                  <a:srgbClr val="677086"/>
                </a:solidFill>
                <a:latin typeface="Arial"/>
              </a:rPr>
              <a:t>자체 Whisper</a:t>
            </a:r>
          </a:p>
          <a:p>
            <a:pPr algn="ctr"/>
            <a:r>
              <a:rPr sz="1100" b="0">
                <a:solidFill>
                  <a:srgbClr val="677086"/>
                </a:solidFill>
                <a:latin typeface="Arial"/>
              </a:rPr>
              <a:t>조건부 OpenAI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967374" y="1572768"/>
            <a:ext cx="263347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0047AB"/>
                </a:solidFill>
                <a:latin typeface="Arial"/>
              </a:rPr>
              <a:t>→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230721" y="1572768"/>
            <a:ext cx="1609344" cy="960120"/>
          </a:xfrm>
          <a:prstGeom prst="roundRect">
            <a:avLst>
              <a:gd name="adj" fmla="val 10000"/>
            </a:avLst>
          </a:prstGeom>
          <a:solidFill>
            <a:srgbClr val="004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303873" y="1572768"/>
            <a:ext cx="14630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사례 검색 + LLM 판정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구조화 출력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840065" y="1572768"/>
            <a:ext cx="263347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0047AB"/>
                </a:solidFill>
                <a:latin typeface="Arial"/>
              </a:rPr>
              <a:t>→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8103412" y="1572768"/>
            <a:ext cx="1609344" cy="960120"/>
          </a:xfrm>
          <a:prstGeom prst="roundRect">
            <a:avLst>
              <a:gd name="adj" fmla="val 10000"/>
            </a:avLst>
          </a:prstGeom>
          <a:solidFill>
            <a:srgbClr val="004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176564" y="1572768"/>
            <a:ext cx="14630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녹취 대조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직접 구현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712756" y="1572768"/>
            <a:ext cx="263347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0047AB"/>
                </a:solidFill>
                <a:latin typeface="Arial"/>
              </a:rPr>
              <a:t>→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9976104" y="1572768"/>
            <a:ext cx="1609344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4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0049256" y="1572768"/>
            <a:ext cx="14630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62340"/>
                </a:solidFill>
                <a:latin typeface="Arial"/>
              </a:rPr>
              <a:t>확신도별 조치</a:t>
            </a:r>
          </a:p>
          <a:p>
            <a:pPr algn="ctr"/>
            <a:r>
              <a:rPr sz="1100" b="0">
                <a:solidFill>
                  <a:srgbClr val="677086"/>
                </a:solidFill>
                <a:latin typeface="Arial"/>
              </a:rPr>
              <a:t>아래 표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12648" y="2724912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0047AB"/>
                </a:solidFill>
                <a:latin typeface="Arial"/>
              </a:rPr>
              <a:t>확신도별 후속 조치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85800" y="3044952"/>
            <a:ext cx="117957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>
                <a:solidFill>
                  <a:srgbClr val="162340"/>
                </a:solidFill>
                <a:latin typeface="Arial"/>
              </a:rPr>
              <a:t>조건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011680" y="3044952"/>
            <a:ext cx="465429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>
                <a:solidFill>
                  <a:srgbClr val="162340"/>
                </a:solidFill>
                <a:latin typeface="Arial"/>
              </a:rPr>
              <a:t>동작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2648" y="3374136"/>
            <a:ext cx="6126480" cy="9144"/>
          </a:xfrm>
          <a:prstGeom prst="rect">
            <a:avLst/>
          </a:prstGeom>
          <a:solidFill>
            <a:srgbClr val="CD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85800" y="3374136"/>
            <a:ext cx="117957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75" b="1">
                <a:solidFill>
                  <a:srgbClr val="162340"/>
                </a:solidFill>
                <a:latin typeface="Arial"/>
              </a:rPr>
              <a:t>0.7 이상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011680" y="3374136"/>
            <a:ext cx="465429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75" b="0">
                <a:solidFill>
                  <a:srgbClr val="162340"/>
                </a:solidFill>
                <a:latin typeface="Arial"/>
              </a:rPr>
              <a:t>연결된 가족에게 의심 여부만 알림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12648" y="3922776"/>
            <a:ext cx="6126480" cy="9144"/>
          </a:xfrm>
          <a:prstGeom prst="rect">
            <a:avLst/>
          </a:prstGeom>
          <a:solidFill>
            <a:srgbClr val="CD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85800" y="3922776"/>
            <a:ext cx="117957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75" b="1">
                <a:solidFill>
                  <a:srgbClr val="162340"/>
                </a:solidFill>
                <a:latin typeface="Arial"/>
              </a:rPr>
              <a:t>0.9 이상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011680" y="3922776"/>
            <a:ext cx="465429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75" b="0">
                <a:solidFill>
                  <a:srgbClr val="162340"/>
                </a:solidFill>
                <a:latin typeface="Arial"/>
              </a:rPr>
              <a:t>은행·카드·간편결제·증권·원격제어 앱 47개 잠금 (기본 1시간)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2648" y="4471416"/>
            <a:ext cx="6126480" cy="9144"/>
          </a:xfrm>
          <a:prstGeom prst="rect">
            <a:avLst/>
          </a:prstGeom>
          <a:solidFill>
            <a:srgbClr val="CD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85800" y="4471416"/>
            <a:ext cx="117957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75" b="1">
                <a:solidFill>
                  <a:srgbClr val="162340"/>
                </a:solidFill>
                <a:latin typeface="Arial"/>
              </a:rPr>
              <a:t>근거 없음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011680" y="4471416"/>
            <a:ext cx="465429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75" b="0">
                <a:solidFill>
                  <a:srgbClr val="162340"/>
                </a:solidFill>
                <a:latin typeface="Arial"/>
              </a:rPr>
              <a:t>"판단 어려움"으로 낮추고 알림·잠금 안 함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12648" y="5020055"/>
            <a:ext cx="6126480" cy="9144"/>
          </a:xfrm>
          <a:prstGeom prst="rect">
            <a:avLst/>
          </a:prstGeom>
          <a:solidFill>
            <a:srgbClr val="CD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85800" y="5020055"/>
            <a:ext cx="117957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75" b="1">
                <a:solidFill>
                  <a:srgbClr val="162340"/>
                </a:solidFill>
                <a:latin typeface="Arial"/>
              </a:rPr>
              <a:t>잠금 해제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011680" y="5020055"/>
            <a:ext cx="465429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75" b="0">
                <a:solidFill>
                  <a:srgbClr val="162340"/>
                </a:solidFill>
                <a:latin typeface="Arial"/>
              </a:rPr>
              <a:t>가족은 즉시, 본인은 10분 대기 후, 또는 시간 만료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2648" y="5568695"/>
            <a:ext cx="6126480" cy="9144"/>
          </a:xfrm>
          <a:prstGeom prst="rect">
            <a:avLst/>
          </a:prstGeom>
          <a:solidFill>
            <a:srgbClr val="CD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6995160" y="2724912"/>
            <a:ext cx="4590288" cy="3246120"/>
          </a:xfrm>
          <a:prstGeom prst="roundRect">
            <a:avLst>
              <a:gd name="adj" fmla="val 2957"/>
            </a:avLst>
          </a:prstGeom>
          <a:solidFill>
            <a:srgbClr val="DF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196328" y="2862072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162340"/>
                </a:solidFill>
                <a:latin typeface="Arial"/>
              </a:rPr>
              <a:t>왜 통화 중이 아니라 통화 후인가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196328" y="3273552"/>
            <a:ext cx="4187952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162340"/>
                </a:solidFill>
                <a:latin typeface="Arial"/>
              </a:rPr>
              <a:t>일반 안드로이드 앱은 통화 음성을 받을 수 없습니다. VOICE_CALL 캡처는 사전 설치된 특권 앱의 권한이 필요하고, 통화 중 일반 앱의 마이크 입력은 무음입니다.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62340"/>
                </a:solidFill>
                <a:latin typeface="Arial"/>
              </a:rPr>
              <a:t>실시간 탐지는 제조사와 통신사 영역입니다. 우리는 </a:t>
            </a:r>
            <a:r>
              <a:rPr sz="1400" b="1">
                <a:solidFill>
                  <a:srgbClr val="162340"/>
                </a:solidFill>
                <a:latin typeface="Arial"/>
              </a:rPr>
              <a:t>이체 전 차단을 보장하지 않으며</a:t>
            </a:r>
            <a:r>
              <a:rPr sz="1400" b="0">
                <a:solidFill>
                  <a:srgbClr val="162340"/>
                </a:solidFill>
                <a:latin typeface="Arial"/>
              </a:rPr>
              <a:t>, 통화 후 추가 이체와 2차 피해를 줄입니다.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1"/>
          <p:cNvSpPr/>
          <p:nvPr/>
        </p:nvSpPr>
        <p:spPr>
          <a:xfrm>
            <a:off x="609600" y="238125"/>
            <a:ext cx="9048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0047AB"/>
                </a:solidFill>
                <a:latin typeface="Arial"/>
                <a:ea typeface="Arial"/>
                <a:cs typeface="Arial"/>
                <a:sym typeface="Arial"/>
              </a:rPr>
              <a:t>03  주요 기능</a:t>
            </a:r>
            <a:endParaRPr/>
          </a:p>
        </p:txBody>
      </p:sp>
      <p:sp>
        <p:nvSpPr>
          <p:cNvPr id="99" name="Google Shape;99;p11"/>
          <p:cNvSpPr/>
          <p:nvPr/>
        </p:nvSpPr>
        <p:spPr>
          <a:xfrm>
            <a:off x="609600" y="723900"/>
            <a:ext cx="10972800" cy="9525"/>
          </a:xfrm>
          <a:prstGeom prst="rect">
            <a:avLst/>
          </a:prstGeom>
          <a:solidFill>
            <a:srgbClr val="CDDA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2090" y="190500"/>
            <a:ext cx="1141369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1"/>
          <p:cNvSpPr/>
          <p:nvPr/>
        </p:nvSpPr>
        <p:spPr>
          <a:xfrm>
            <a:off x="609600" y="847725"/>
            <a:ext cx="109061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분석부터 잠금까지 실제 폰에서 동작합니다</a:t>
            </a:r>
            <a:endParaRPr/>
          </a:p>
        </p:txBody>
      </p:sp>
      <p:sp>
        <p:nvSpPr>
          <p:cNvPr id="102" name="Google Shape;102;p11"/>
          <p:cNvSpPr/>
          <p:nvPr/>
        </p:nvSpPr>
        <p:spPr>
          <a:xfrm>
            <a:off x="609600" y="6229350"/>
            <a:ext cx="10972800" cy="9525"/>
          </a:xfrm>
          <a:prstGeom prst="rect">
            <a:avLst/>
          </a:prstGeom>
          <a:solidFill>
            <a:srgbClr val="CDDA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" name="Google Shape;10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4363" y="6200775"/>
            <a:ext cx="942975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1"/>
          <p:cNvSpPr/>
          <p:nvPr/>
        </p:nvSpPr>
        <p:spPr>
          <a:xfrm>
            <a:off x="1752600" y="6429375"/>
            <a:ext cx="85725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677086"/>
                </a:solidFill>
                <a:latin typeface="Arial"/>
                <a:ea typeface="Arial"/>
                <a:cs typeface="Arial"/>
                <a:sym typeface="Arial"/>
              </a:rPr>
              <a:t>팀 유레카 | 유상우 · 김동현 · 김병국 · 김호연 · 전선형</a:t>
            </a:r>
            <a:endParaRPr/>
          </a:p>
        </p:txBody>
      </p:sp>
      <p:sp>
        <p:nvSpPr>
          <p:cNvPr id="105" name="Google Shape;105;p11"/>
          <p:cNvSpPr/>
          <p:nvPr/>
        </p:nvSpPr>
        <p:spPr>
          <a:xfrm>
            <a:off x="11106150" y="6362700"/>
            <a:ext cx="476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677086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pic>
        <p:nvPicPr>
          <p:cNvPr id="106" name="Picture 105" descr="folder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" y="1554480"/>
            <a:ext cx="1645920" cy="3246120"/>
          </a:xfrm>
          <a:prstGeom prst="rect">
            <a:avLst/>
          </a:prstGeom>
        </p:spPr>
      </p:pic>
      <p:sp>
        <p:nvSpPr>
          <p:cNvPr id="107" name="TextBox 106"/>
          <p:cNvSpPr txBox="1"/>
          <p:nvPr/>
        </p:nvSpPr>
        <p:spPr>
          <a:xfrm>
            <a:off x="612648" y="4873752"/>
            <a:ext cx="17190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62340"/>
                </a:solidFill>
                <a:latin typeface="Arial"/>
              </a:rPr>
              <a:t>1. 녹음 폴더 연결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12648" y="5148072"/>
            <a:ext cx="17190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5" b="0">
                <a:solidFill>
                  <a:srgbClr val="677086"/>
                </a:solidFill>
                <a:latin typeface="Arial"/>
              </a:rPr>
              <a:t>저장된 녹음만 읽음</a:t>
            </a:r>
          </a:p>
        </p:txBody>
      </p:sp>
      <p:pic>
        <p:nvPicPr>
          <p:cNvPr id="109" name="Picture 108" descr="evidenc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23744" y="1554480"/>
            <a:ext cx="1645920" cy="3246120"/>
          </a:xfrm>
          <a:prstGeom prst="rect">
            <a:avLst/>
          </a:prstGeom>
        </p:spPr>
      </p:pic>
      <p:sp>
        <p:nvSpPr>
          <p:cNvPr id="110" name="TextBox 109"/>
          <p:cNvSpPr txBox="1"/>
          <p:nvPr/>
        </p:nvSpPr>
        <p:spPr>
          <a:xfrm>
            <a:off x="2487168" y="4873752"/>
            <a:ext cx="17190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62340"/>
                </a:solidFill>
                <a:latin typeface="Arial"/>
              </a:rPr>
              <a:t>2. 통화 속 근거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487168" y="5148072"/>
            <a:ext cx="17190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5" b="0">
                <a:solidFill>
                  <a:srgbClr val="677086"/>
                </a:solidFill>
                <a:latin typeface="Arial"/>
              </a:rPr>
              <a:t>실제로 나온 말만 표시</a:t>
            </a:r>
          </a:p>
        </p:txBody>
      </p:sp>
      <p:pic>
        <p:nvPicPr>
          <p:cNvPr id="112" name="Picture 111" descr="lock-modal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98264" y="1554480"/>
            <a:ext cx="1645920" cy="3246120"/>
          </a:xfrm>
          <a:prstGeom prst="rect">
            <a:avLst/>
          </a:prstGeom>
        </p:spPr>
      </p:pic>
      <p:sp>
        <p:nvSpPr>
          <p:cNvPr id="113" name="TextBox 112"/>
          <p:cNvSpPr txBox="1"/>
          <p:nvPr/>
        </p:nvSpPr>
        <p:spPr>
          <a:xfrm>
            <a:off x="4361688" y="4873752"/>
            <a:ext cx="17190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62340"/>
                </a:solidFill>
                <a:latin typeface="Arial"/>
              </a:rPr>
              <a:t>3. 즉시 경고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361688" y="5148072"/>
            <a:ext cx="17190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5" b="0">
                <a:solidFill>
                  <a:srgbClr val="677086"/>
                </a:solidFill>
                <a:latin typeface="Arial"/>
              </a:rPr>
              <a:t>112와 암구호로 연결</a:t>
            </a:r>
          </a:p>
        </p:txBody>
      </p:sp>
      <p:pic>
        <p:nvPicPr>
          <p:cNvPr id="115" name="Picture 114" descr="lock-p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2783" y="1554480"/>
            <a:ext cx="1645920" cy="3246120"/>
          </a:xfrm>
          <a:prstGeom prst="rect">
            <a:avLst/>
          </a:prstGeom>
        </p:spPr>
      </p:pic>
      <p:sp>
        <p:nvSpPr>
          <p:cNvPr id="116" name="TextBox 115"/>
          <p:cNvSpPr txBox="1"/>
          <p:nvPr/>
        </p:nvSpPr>
        <p:spPr>
          <a:xfrm>
            <a:off x="6236207" y="4873752"/>
            <a:ext cx="17190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62340"/>
                </a:solidFill>
                <a:latin typeface="Arial"/>
              </a:rPr>
              <a:t>4. 금융 앱 잠금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236207" y="5148072"/>
            <a:ext cx="17190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5" b="0">
                <a:solidFill>
                  <a:srgbClr val="677086"/>
                </a:solidFill>
                <a:latin typeface="Arial"/>
              </a:rPr>
              <a:t>열면 경고로 되돌림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12648" y="566928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0">
                <a:solidFill>
                  <a:srgbClr val="677086"/>
                </a:solidFill>
                <a:latin typeface="Arial"/>
              </a:rPr>
              <a:t>테스트 통화 사용. 개인정보 장면 제외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8183879" y="1554480"/>
            <a:ext cx="3401568" cy="4352544"/>
          </a:xfrm>
          <a:prstGeom prst="roundRect">
            <a:avLst>
              <a:gd name="adj" fmla="val 2822"/>
            </a:avLst>
          </a:prstGeom>
          <a:solidFill>
            <a:srgbClr val="DF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8385048" y="1664208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0047AB"/>
                </a:solidFill>
                <a:latin typeface="Arial"/>
              </a:rPr>
              <a:t>예방까지 함께</a:t>
            </a:r>
          </a:p>
        </p:txBody>
      </p:sp>
      <p:pic>
        <p:nvPicPr>
          <p:cNvPr id="121" name="Picture 120" descr="가족 보호와 암구호 화면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5048" y="2011680"/>
            <a:ext cx="960120" cy="1965960"/>
          </a:xfrm>
          <a:prstGeom prst="rect">
            <a:avLst/>
          </a:prstGeom>
        </p:spPr>
      </p:pic>
      <p:pic>
        <p:nvPicPr>
          <p:cNvPr id="122" name="Picture 121" descr="사기 체험 화면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00032" y="2011680"/>
            <a:ext cx="960120" cy="1965960"/>
          </a:xfrm>
          <a:prstGeom prst="rect">
            <a:avLst/>
          </a:prstGeom>
        </p:spPr>
      </p:pic>
      <p:pic>
        <p:nvPicPr>
          <p:cNvPr id="123" name="Picture 122" descr="커뮤니티 제보 화면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15016" y="2011680"/>
            <a:ext cx="960120" cy="1965960"/>
          </a:xfrm>
          <a:prstGeom prst="rect">
            <a:avLst/>
          </a:prstGeom>
        </p:spPr>
      </p:pic>
      <p:sp>
        <p:nvSpPr>
          <p:cNvPr id="124" name="TextBox 123"/>
          <p:cNvSpPr txBox="1"/>
          <p:nvPr/>
        </p:nvSpPr>
        <p:spPr>
          <a:xfrm>
            <a:off x="8385048" y="4069080"/>
            <a:ext cx="3017520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1125" b="1">
                <a:solidFill>
                  <a:srgbClr val="162340"/>
                </a:solidFill>
                <a:latin typeface="Arial"/>
              </a:rPr>
              <a:t>가족 암구호  </a:t>
            </a:r>
            <a:r>
              <a:rPr sz="1125" b="0">
                <a:solidFill>
                  <a:srgbClr val="162340"/>
                </a:solidFill>
                <a:latin typeface="Arial"/>
              </a:rPr>
              <a:t>매일 0시에 바뀌는 단어로 사칭 확인</a:t>
            </a:r>
          </a:p>
          <a:p>
            <a:pPr>
              <a:spcAft>
                <a:spcPts val="300"/>
              </a:spcAft>
            </a:pPr>
            <a:r>
              <a:rPr sz="1125" b="1">
                <a:solidFill>
                  <a:srgbClr val="162340"/>
                </a:solidFill>
                <a:latin typeface="Arial"/>
              </a:rPr>
              <a:t>사기 체험  </a:t>
            </a:r>
            <a:r>
              <a:rPr sz="1125" b="0">
                <a:solidFill>
                  <a:srgbClr val="162340"/>
                </a:solidFill>
                <a:latin typeface="Arial"/>
              </a:rPr>
              <a:t>13개 수법을 대화형으로 연습</a:t>
            </a:r>
          </a:p>
          <a:p>
            <a:pPr>
              <a:spcAft>
                <a:spcPts val="300"/>
              </a:spcAft>
            </a:pPr>
            <a:r>
              <a:rPr sz="1125" b="1">
                <a:solidFill>
                  <a:srgbClr val="162340"/>
                </a:solidFill>
                <a:latin typeface="Arial"/>
              </a:rPr>
              <a:t>제보 → 훈련  </a:t>
            </a:r>
            <a:r>
              <a:rPr sz="1125" b="0">
                <a:solidFill>
                  <a:srgbClr val="162340"/>
                </a:solidFill>
                <a:latin typeface="Arial"/>
              </a:rPr>
              <a:t>추천 상위 제보를 AI 시나리오로</a:t>
            </a:r>
          </a:p>
          <a:p>
            <a:pPr>
              <a:spcAft>
                <a:spcPts val="300"/>
              </a:spcAft>
            </a:pPr>
            <a:r>
              <a:rPr sz="1125" b="1">
                <a:solidFill>
                  <a:srgbClr val="162340"/>
                </a:solidFill>
                <a:latin typeface="Arial"/>
              </a:rPr>
              <a:t>코디·퀴즈  </a:t>
            </a:r>
            <a:r>
              <a:rPr sz="1125" b="0">
                <a:solidFill>
                  <a:srgbClr val="162340"/>
                </a:solidFill>
                <a:latin typeface="Arial"/>
              </a:rPr>
              <a:t>가족 퀴즈 15장, 예방 행동에만 점수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2"/>
          <p:cNvSpPr/>
          <p:nvPr/>
        </p:nvSpPr>
        <p:spPr>
          <a:xfrm>
            <a:off x="609600" y="238125"/>
            <a:ext cx="9048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0047AB"/>
                </a:solidFill>
                <a:latin typeface="Arial"/>
                <a:ea typeface="Arial"/>
                <a:cs typeface="Arial"/>
                <a:sym typeface="Arial"/>
              </a:rPr>
              <a:t>04  AI 기술과 직접 개발 범위</a:t>
            </a:r>
            <a:endParaRPr/>
          </a:p>
        </p:txBody>
      </p:sp>
      <p:sp>
        <p:nvSpPr>
          <p:cNvPr id="138" name="Google Shape;138;p12"/>
          <p:cNvSpPr/>
          <p:nvPr/>
        </p:nvSpPr>
        <p:spPr>
          <a:xfrm>
            <a:off x="609600" y="723900"/>
            <a:ext cx="10972800" cy="9525"/>
          </a:xfrm>
          <a:prstGeom prst="rect">
            <a:avLst/>
          </a:prstGeom>
          <a:solidFill>
            <a:srgbClr val="CDDA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" name="Google Shape;13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2090" y="190500"/>
            <a:ext cx="1141369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2"/>
          <p:cNvSpPr/>
          <p:nvPr/>
        </p:nvSpPr>
        <p:spPr>
          <a:xfrm>
            <a:off x="609600" y="847725"/>
            <a:ext cx="109061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판정은 API에 맡기되, 믿고 행동하게 만드는 층은 직접 구현</a:t>
            </a:r>
            <a:endParaRPr/>
          </a:p>
        </p:txBody>
      </p:sp>
      <p:sp>
        <p:nvSpPr>
          <p:cNvPr id="141" name="Google Shape;141;p12"/>
          <p:cNvSpPr/>
          <p:nvPr/>
        </p:nvSpPr>
        <p:spPr>
          <a:xfrm>
            <a:off x="609600" y="6229350"/>
            <a:ext cx="10972800" cy="9525"/>
          </a:xfrm>
          <a:prstGeom prst="rect">
            <a:avLst/>
          </a:prstGeom>
          <a:solidFill>
            <a:srgbClr val="CDDA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4363" y="6200775"/>
            <a:ext cx="942975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2"/>
          <p:cNvSpPr/>
          <p:nvPr/>
        </p:nvSpPr>
        <p:spPr>
          <a:xfrm>
            <a:off x="1752600" y="6429375"/>
            <a:ext cx="85725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677086"/>
                </a:solidFill>
                <a:latin typeface="Arial"/>
                <a:ea typeface="Arial"/>
                <a:cs typeface="Arial"/>
                <a:sym typeface="Arial"/>
              </a:rPr>
              <a:t>팀 유레카 | 유상우 · 김동현 · 김병국 · 김호연 · 전선형</a:t>
            </a:r>
            <a:endParaRPr/>
          </a:p>
        </p:txBody>
      </p:sp>
      <p:sp>
        <p:nvSpPr>
          <p:cNvPr id="144" name="Google Shape;144;p12"/>
          <p:cNvSpPr/>
          <p:nvPr/>
        </p:nvSpPr>
        <p:spPr>
          <a:xfrm>
            <a:off x="11106150" y="6362700"/>
            <a:ext cx="476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677086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685800" y="1481328"/>
            <a:ext cx="15453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 b="1">
                <a:solidFill>
                  <a:srgbClr val="162340"/>
                </a:solidFill>
                <a:latin typeface="Arial"/>
              </a:rPr>
              <a:t>층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2377440" y="1481328"/>
            <a:ext cx="59344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 b="1">
                <a:solidFill>
                  <a:srgbClr val="162340"/>
                </a:solidFill>
                <a:latin typeface="Arial"/>
              </a:rPr>
              <a:t>적용 방식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8458200" y="1481328"/>
            <a:ext cx="305409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 b="1">
                <a:solidFill>
                  <a:srgbClr val="162340"/>
                </a:solidFill>
                <a:latin typeface="Arial"/>
              </a:rPr>
              <a:t>구분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612648" y="1755648"/>
            <a:ext cx="10972800" cy="9144"/>
          </a:xfrm>
          <a:prstGeom prst="rect">
            <a:avLst/>
          </a:prstGeom>
          <a:solidFill>
            <a:srgbClr val="CD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685800" y="1755648"/>
            <a:ext cx="1545336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1">
                <a:solidFill>
                  <a:srgbClr val="162340"/>
                </a:solidFill>
                <a:latin typeface="Arial"/>
              </a:rPr>
              <a:t>음성 → 글자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2377440" y="1755648"/>
            <a:ext cx="5934456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0">
                <a:solidFill>
                  <a:srgbClr val="162340"/>
                </a:solidFill>
                <a:latin typeface="Arial"/>
              </a:rPr>
              <a:t>자체 서버 CPU Whisper large-v3-turbo INT8. 부하·장애·5분 초과 음성은 OpenAI whisper-1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458200" y="1755648"/>
            <a:ext cx="3054096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0">
                <a:solidFill>
                  <a:srgbClr val="162340"/>
                </a:solidFill>
                <a:latin typeface="Arial"/>
              </a:rPr>
              <a:t>직접 구축: 5개 설정 비교, 서빙, 전환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612648" y="2130552"/>
            <a:ext cx="10972800" cy="9144"/>
          </a:xfrm>
          <a:prstGeom prst="rect">
            <a:avLst/>
          </a:prstGeom>
          <a:solidFill>
            <a:srgbClr val="CD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685800" y="2130552"/>
            <a:ext cx="1545336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1">
                <a:solidFill>
                  <a:srgbClr val="162340"/>
                </a:solidFill>
                <a:latin typeface="Arial"/>
              </a:rPr>
              <a:t>사기 판정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2377440" y="2130552"/>
            <a:ext cx="5934456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0">
                <a:solidFill>
                  <a:srgbClr val="162340"/>
                </a:solidFill>
                <a:latin typeface="Arial"/>
              </a:rPr>
              <a:t>Claude claude-opus-5-5, JSON 스키마 출력. 4개 라벨, 유형, 확신도, 인용 근거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458200" y="2130552"/>
            <a:ext cx="3054096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0">
                <a:solidFill>
                  <a:srgbClr val="162340"/>
                </a:solidFill>
                <a:latin typeface="Arial"/>
              </a:rPr>
              <a:t>외부 API + 판정 기준, 스키마, 프롬프트 방어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2648" y="2505456"/>
            <a:ext cx="10972800" cy="9144"/>
          </a:xfrm>
          <a:prstGeom prst="rect">
            <a:avLst/>
          </a:prstGeom>
          <a:solidFill>
            <a:srgbClr val="CD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85800" y="2505456"/>
            <a:ext cx="1545336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1">
                <a:solidFill>
                  <a:srgbClr val="162340"/>
                </a:solidFill>
                <a:latin typeface="Arial"/>
              </a:rPr>
              <a:t>수법 검색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2377440" y="2505456"/>
            <a:ext cx="5934456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0">
                <a:solidFill>
                  <a:srgbClr val="162340"/>
                </a:solidFill>
                <a:latin typeface="Arial"/>
              </a:rPr>
              <a:t>판정 전 RAG(BM25 + bge-m3 kNN, RRF)로 사례 3건 참고. 판정 뒤 수법 지식 10종과 유형 매칭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8458200" y="2505456"/>
            <a:ext cx="3054096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0">
                <a:solidFill>
                  <a:srgbClr val="162340"/>
                </a:solidFill>
                <a:latin typeface="Arial"/>
              </a:rPr>
              <a:t>직접 구현: 적재, 검색 API, 재순위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612648" y="2880360"/>
            <a:ext cx="10972800" cy="9144"/>
          </a:xfrm>
          <a:prstGeom prst="rect">
            <a:avLst/>
          </a:prstGeom>
          <a:solidFill>
            <a:srgbClr val="CD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685800" y="2880360"/>
            <a:ext cx="1545336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1">
                <a:solidFill>
                  <a:srgbClr val="162340"/>
                </a:solidFill>
                <a:latin typeface="Arial"/>
              </a:rPr>
              <a:t>근거 대조·후속 조치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2377440" y="2880360"/>
            <a:ext cx="5934456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0">
                <a:solidFill>
                  <a:srgbClr val="162340"/>
                </a:solidFill>
                <a:latin typeface="Arial"/>
              </a:rPr>
              <a:t>인용 문장이 녹취에 순서대로 있는지 코드로 검사. 임계값 분기, 알림, 잠금·해제, 암구호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8458200" y="2880360"/>
            <a:ext cx="3054096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0">
                <a:solidFill>
                  <a:srgbClr val="162340"/>
                </a:solidFill>
                <a:latin typeface="Arial"/>
              </a:rPr>
              <a:t>직접 구현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612648" y="3255264"/>
            <a:ext cx="10972800" cy="9144"/>
          </a:xfrm>
          <a:prstGeom prst="rect">
            <a:avLst/>
          </a:prstGeom>
          <a:solidFill>
            <a:srgbClr val="CD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685800" y="3255264"/>
            <a:ext cx="1545336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1">
                <a:solidFill>
                  <a:srgbClr val="162340"/>
                </a:solidFill>
                <a:latin typeface="Arial"/>
              </a:rPr>
              <a:t>안드로이드 앱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2377440" y="3255264"/>
            <a:ext cx="5934456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0">
                <a:solidFill>
                  <a:srgbClr val="162340"/>
                </a:solidFill>
                <a:latin typeface="Arial"/>
              </a:rPr>
              <a:t>폴더 감시, S3 직접 업로드, 접근성 서비스 앱 차단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8458200" y="3255264"/>
            <a:ext cx="3054096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0">
                <a:solidFill>
                  <a:srgbClr val="162340"/>
                </a:solidFill>
                <a:latin typeface="Arial"/>
              </a:rPr>
              <a:t>직접 구현 (Kotlin)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12648" y="3630168"/>
            <a:ext cx="10972800" cy="9144"/>
          </a:xfrm>
          <a:prstGeom prst="rect">
            <a:avLst/>
          </a:prstGeom>
          <a:solidFill>
            <a:srgbClr val="CD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85800" y="3630168"/>
            <a:ext cx="1545336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1">
                <a:solidFill>
                  <a:srgbClr val="162340"/>
                </a:solidFill>
                <a:latin typeface="Arial"/>
              </a:rPr>
              <a:t>제보 → 시나리오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2377440" y="3630168"/>
            <a:ext cx="5934456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0">
                <a:solidFill>
                  <a:srgbClr val="162340"/>
                </a:solidFill>
                <a:latin typeface="Arial"/>
              </a:rPr>
              <a:t>번호·계좌·링크 마스킹 후 LLM으로 5턴 훈련 생성, 결과 구조 검사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8458200" y="3630168"/>
            <a:ext cx="3054096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0">
                <a:solidFill>
                  <a:srgbClr val="162340"/>
                </a:solidFill>
                <a:latin typeface="Arial"/>
              </a:rPr>
              <a:t>직접 구현 + 외부 API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612648" y="4005072"/>
            <a:ext cx="10972800" cy="9144"/>
          </a:xfrm>
          <a:prstGeom prst="rect">
            <a:avLst/>
          </a:prstGeom>
          <a:solidFill>
            <a:srgbClr val="CD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3" name="Picture 172" descr="STT 5개 배포 설정의 CER, RTF, 처리 시간, 메모리 비교표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" y="4096512"/>
            <a:ext cx="7059168" cy="1892807"/>
          </a:xfrm>
          <a:prstGeom prst="rect">
            <a:avLst/>
          </a:prstGeom>
        </p:spPr>
      </p:pic>
      <p:sp>
        <p:nvSpPr>
          <p:cNvPr id="174" name="Rounded Rectangle 173"/>
          <p:cNvSpPr/>
          <p:nvPr/>
        </p:nvSpPr>
        <p:spPr>
          <a:xfrm>
            <a:off x="7863840" y="4096512"/>
            <a:ext cx="3721608" cy="1892807"/>
          </a:xfrm>
          <a:prstGeom prst="roundRect">
            <a:avLst>
              <a:gd name="adj" fmla="val 5072"/>
            </a:avLst>
          </a:prstGeom>
          <a:solidFill>
            <a:srgbClr val="DF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8046720" y="4187952"/>
            <a:ext cx="336499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162340"/>
                </a:solidFill>
                <a:latin typeface="Arial"/>
              </a:rPr>
              <a:t>왜 turbo INT8인가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62340"/>
                </a:solidFill>
                <a:latin typeface="Arial"/>
              </a:rPr>
              <a:t>숫자 정규화 CER은 large-v3와 같은 1.41%이면서, 44초 MP3 처리는 26초로 63초보다 빠릅니다. 합성 음성 20개 기준입니다.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047AB"/>
                </a:solidFill>
                <a:latin typeface="Arial"/>
              </a:rPr>
              <a:t>자체 학습 모델은 없습니다.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3"/>
          <p:cNvSpPr/>
          <p:nvPr/>
        </p:nvSpPr>
        <p:spPr>
          <a:xfrm>
            <a:off x="609600" y="238125"/>
            <a:ext cx="9048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0047AB"/>
                </a:solidFill>
                <a:latin typeface="Arial"/>
                <a:ea typeface="Arial"/>
                <a:cs typeface="Arial"/>
                <a:sym typeface="Arial"/>
              </a:rPr>
              <a:t>05  적용 방식: 오판을 줄이는 설계</a:t>
            </a:r>
            <a:endParaRPr/>
          </a:p>
        </p:txBody>
      </p:sp>
      <p:sp>
        <p:nvSpPr>
          <p:cNvPr id="160" name="Google Shape;160;p13"/>
          <p:cNvSpPr/>
          <p:nvPr/>
        </p:nvSpPr>
        <p:spPr>
          <a:xfrm>
            <a:off x="609600" y="723900"/>
            <a:ext cx="10972800" cy="9525"/>
          </a:xfrm>
          <a:prstGeom prst="rect">
            <a:avLst/>
          </a:prstGeom>
          <a:solidFill>
            <a:srgbClr val="CDDA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1" name="Google Shape;16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2090" y="190500"/>
            <a:ext cx="1141369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3"/>
          <p:cNvSpPr/>
          <p:nvPr/>
        </p:nvSpPr>
        <p:spPr>
          <a:xfrm>
            <a:off x="609600" y="847725"/>
            <a:ext cx="109061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잘못된 경고도 피해이므로, LLM의 답을 그대로 믿지 않습니다</a:t>
            </a:r>
            <a:endParaRPr/>
          </a:p>
        </p:txBody>
      </p:sp>
      <p:sp>
        <p:nvSpPr>
          <p:cNvPr id="163" name="Google Shape;163;p13"/>
          <p:cNvSpPr/>
          <p:nvPr/>
        </p:nvSpPr>
        <p:spPr>
          <a:xfrm>
            <a:off x="609600" y="6229350"/>
            <a:ext cx="10972800" cy="9525"/>
          </a:xfrm>
          <a:prstGeom prst="rect">
            <a:avLst/>
          </a:prstGeom>
          <a:solidFill>
            <a:srgbClr val="CDDA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4" name="Google Shape;16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4363" y="6200775"/>
            <a:ext cx="942975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3"/>
          <p:cNvSpPr/>
          <p:nvPr/>
        </p:nvSpPr>
        <p:spPr>
          <a:xfrm>
            <a:off x="1752600" y="6429375"/>
            <a:ext cx="85725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677086"/>
                </a:solidFill>
                <a:latin typeface="Arial"/>
                <a:ea typeface="Arial"/>
                <a:cs typeface="Arial"/>
                <a:sym typeface="Arial"/>
              </a:rPr>
              <a:t>팀 유레카 | 유상우 · 김동현 · 김병국 · 김호연 · 전선형</a:t>
            </a:r>
            <a:endParaRPr/>
          </a:p>
        </p:txBody>
      </p:sp>
      <p:sp>
        <p:nvSpPr>
          <p:cNvPr id="166" name="Google Shape;166;p13"/>
          <p:cNvSpPr/>
          <p:nvPr/>
        </p:nvSpPr>
        <p:spPr>
          <a:xfrm>
            <a:off x="11106150" y="6362700"/>
            <a:ext cx="476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677086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167" name="Rounded Rectangle 166"/>
          <p:cNvSpPr/>
          <p:nvPr/>
        </p:nvSpPr>
        <p:spPr>
          <a:xfrm>
            <a:off x="612648" y="1572768"/>
            <a:ext cx="5806440" cy="3401568"/>
          </a:xfrm>
          <a:prstGeom prst="roundRect">
            <a:avLst>
              <a:gd name="adj" fmla="val 2822"/>
            </a:avLst>
          </a:prstGeom>
          <a:solidFill>
            <a:srgbClr val="16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822960" y="1682496"/>
            <a:ext cx="544068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0">
                <a:solidFill>
                  <a:srgbClr val="9FB4D6"/>
                </a:solidFill>
                <a:latin typeface="Courier New"/>
              </a:rPr>
              <a:t># server/guard/llm.py (요약)</a:t>
            </a:r>
          </a:p>
          <a:p>
            <a:r>
              <a:rPr sz="1050" b="0">
                <a:solidFill>
                  <a:srgbClr val="FFFFFF"/>
                </a:solidFill>
                <a:latin typeface="Courier New"/>
              </a:rPr>
              <a:t>def _keep_grounded(result, transcript):</a:t>
            </a:r>
          </a:p>
          <a:p>
            <a:r>
              <a:rPr sz="1050" b="0">
                <a:solidFill>
                  <a:srgbClr val="FFFFFF"/>
                </a:solidFill>
                <a:latin typeface="Courier New"/>
              </a:rPr>
              <a:t>    if result["label"] != VOICE_PHISHING:</a:t>
            </a:r>
          </a:p>
          <a:p>
            <a:r>
              <a:rPr sz="1050" b="0">
                <a:solidFill>
                  <a:srgbClr val="FFFFFF"/>
                </a:solidFill>
                <a:latin typeface="Courier New"/>
              </a:rPr>
              <a:t>        result["evidence"] = []</a:t>
            </a:r>
          </a:p>
          <a:p>
            <a:r>
              <a:rPr sz="1050" b="0">
                <a:solidFill>
                  <a:srgbClr val="FFFFFF"/>
                </a:solidFill>
                <a:latin typeface="Courier New"/>
              </a:rPr>
              <a:t>        return result</a:t>
            </a:r>
          </a:p>
          <a:p>
            <a:r>
              <a:rPr sz="1050" b="0">
                <a:solidFill>
                  <a:srgbClr val="9FB4D6"/>
                </a:solidFill>
                <a:latin typeface="Courier New"/>
              </a:rPr>
              <a:t>    # 녹취에 실제로 있는 인용만 남김</a:t>
            </a:r>
          </a:p>
          <a:p>
            <a:r>
              <a:rPr sz="1050" b="0">
                <a:solidFill>
                  <a:srgbClr val="FFFFFF"/>
                </a:solidFill>
                <a:latin typeface="Courier New"/>
              </a:rPr>
              <a:t>    result["evidence"] = [q for q in result["evidence"]</a:t>
            </a:r>
          </a:p>
          <a:p>
            <a:r>
              <a:rPr sz="1050" b="0">
                <a:solidFill>
                  <a:srgbClr val="FFFFFF"/>
                </a:solidFill>
                <a:latin typeface="Courier New"/>
              </a:rPr>
              <a:t>        if _in_transcript(q, transcript)]</a:t>
            </a:r>
          </a:p>
          <a:p>
            <a:r>
              <a:rPr sz="1050" b="0">
                <a:solidFill>
                  <a:srgbClr val="9FB4D6"/>
                </a:solidFill>
                <a:latin typeface="Courier New"/>
              </a:rPr>
              <a:t>    # 근거가 없으면 알림과 잠금을 막음</a:t>
            </a:r>
          </a:p>
          <a:p>
            <a:r>
              <a:rPr sz="1050" b="0">
                <a:solidFill>
                  <a:srgbClr val="FFFFFF"/>
                </a:solidFill>
                <a:latin typeface="Courier New"/>
              </a:rPr>
              <a:t>    if not result["evidence"]:</a:t>
            </a:r>
          </a:p>
          <a:p>
            <a:r>
              <a:rPr sz="1050" b="0">
                <a:solidFill>
                  <a:srgbClr val="FFFFFF"/>
                </a:solidFill>
                <a:latin typeface="Courier New"/>
              </a:rPr>
              <a:t>        result["label"] = "uncertain"</a:t>
            </a:r>
          </a:p>
          <a:p>
            <a:r>
              <a:rPr sz="1050" b="0">
                <a:solidFill>
                  <a:srgbClr val="FFFFFF"/>
                </a:solidFill>
                <a:latin typeface="Courier New"/>
              </a:rPr>
              <a:t>    return result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612648" y="5120640"/>
            <a:ext cx="5806440" cy="804672"/>
          </a:xfrm>
          <a:prstGeom prst="roundRect">
            <a:avLst>
              <a:gd name="adj" fmla="val 11931"/>
            </a:avLst>
          </a:prstGeom>
          <a:solidFill>
            <a:srgbClr val="DF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822960" y="5120640"/>
            <a:ext cx="539496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75" b="1">
                <a:solidFill>
                  <a:srgbClr val="162340"/>
                </a:solidFill>
                <a:latin typeface="Arial"/>
              </a:rPr>
              <a:t>자동 테스트 71개 통과. </a:t>
            </a:r>
            <a:r>
              <a:rPr sz="1275" b="0">
                <a:solidFill>
                  <a:srgbClr val="162340"/>
                </a:solidFill>
                <a:latin typeface="Arial"/>
              </a:rPr>
              <a:t>판정 분기, 잠금 해제, 가족 권한, 제보 마스킹을 외부 키 없이 검증합니다.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6675120" y="1572768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0047AB"/>
                </a:solidFill>
                <a:latin typeface="Arial"/>
              </a:rPr>
              <a:t>설계 원칙 5가지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6675120" y="1956816"/>
            <a:ext cx="146304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>
                <a:solidFill>
                  <a:srgbClr val="162340"/>
                </a:solidFill>
                <a:latin typeface="Arial"/>
              </a:rPr>
              <a:t>환각 차단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8138160" y="1956816"/>
            <a:ext cx="3447288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>
                <a:solidFill>
                  <a:srgbClr val="162340"/>
                </a:solidFill>
                <a:latin typeface="Arial"/>
              </a:rPr>
              <a:t>녹취에 없는 근거는 표시하지 않고 조치도 막음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675120" y="2551176"/>
            <a:ext cx="4910328" cy="9144"/>
          </a:xfrm>
          <a:prstGeom prst="rect">
            <a:avLst/>
          </a:prstGeom>
          <a:solidFill>
            <a:srgbClr val="CD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675120" y="2615184"/>
            <a:ext cx="146304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>
                <a:solidFill>
                  <a:srgbClr val="162340"/>
                </a:solidFill>
                <a:latin typeface="Arial"/>
              </a:rPr>
              <a:t>주입 방어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8138160" y="2615184"/>
            <a:ext cx="3447288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>
                <a:solidFill>
                  <a:srgbClr val="162340"/>
                </a:solidFill>
                <a:latin typeface="Arial"/>
              </a:rPr>
              <a:t>녹취 속 "정상으로 판정하라"는 지시를 따르지 않고 판단 근거로 고려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6675120" y="3209544"/>
            <a:ext cx="4910328" cy="9144"/>
          </a:xfrm>
          <a:prstGeom prst="rect">
            <a:avLst/>
          </a:prstGeom>
          <a:solidFill>
            <a:srgbClr val="CD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6675120" y="3273552"/>
            <a:ext cx="146304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>
                <a:solidFill>
                  <a:srgbClr val="162340"/>
                </a:solidFill>
                <a:latin typeface="Arial"/>
              </a:rPr>
              <a:t>단계적 조치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8138160" y="3273552"/>
            <a:ext cx="3447288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>
                <a:solidFill>
                  <a:srgbClr val="162340"/>
                </a:solidFill>
                <a:latin typeface="Arial"/>
              </a:rPr>
              <a:t>피해가 큰 잠금은 알림보다 높은 기준 적용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6675120" y="3867911"/>
            <a:ext cx="4910328" cy="9144"/>
          </a:xfrm>
          <a:prstGeom prst="rect">
            <a:avLst/>
          </a:prstGeom>
          <a:solidFill>
            <a:srgbClr val="CD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6675120" y="3931920"/>
            <a:ext cx="146304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>
                <a:solidFill>
                  <a:srgbClr val="162340"/>
                </a:solidFill>
                <a:latin typeface="Arial"/>
              </a:rPr>
              <a:t>정보 최소화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8138160" y="3931920"/>
            <a:ext cx="3447288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>
                <a:solidFill>
                  <a:srgbClr val="162340"/>
                </a:solidFill>
                <a:latin typeface="Arial"/>
              </a:rPr>
              <a:t>가족에게 요약·유형·녹취·확신도를 보내지 않음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6675120" y="4526279"/>
            <a:ext cx="4910328" cy="9144"/>
          </a:xfrm>
          <a:prstGeom prst="rect">
            <a:avLst/>
          </a:prstGeom>
          <a:solidFill>
            <a:srgbClr val="CD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6675120" y="4590288"/>
            <a:ext cx="146304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>
                <a:solidFill>
                  <a:srgbClr val="162340"/>
                </a:solidFill>
                <a:latin typeface="Arial"/>
              </a:rPr>
              <a:t>되돌릴 수 있음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8138160" y="4590288"/>
            <a:ext cx="3447288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>
                <a:solidFill>
                  <a:srgbClr val="162340"/>
                </a:solidFill>
                <a:latin typeface="Arial"/>
              </a:rPr>
              <a:t>오탐이어도 가족 해제, 10분 대기, 시간 만료로 복구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6675120" y="5184647"/>
            <a:ext cx="4910328" cy="9144"/>
          </a:xfrm>
          <a:prstGeom prst="rect">
            <a:avLst/>
          </a:prstGeom>
          <a:solidFill>
            <a:srgbClr val="CD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6675120" y="5321808"/>
            <a:ext cx="4910328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>
                <a:solidFill>
                  <a:srgbClr val="677086"/>
                </a:solidFill>
                <a:latin typeface="Arial"/>
              </a:rPr>
              <a:t>확신도는 LLM이 매긴 값이며 보정 전이라 사기 확률이 아닙니다. 화면에도 그렇게 표시합니다.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4"/>
          <p:cNvSpPr/>
          <p:nvPr/>
        </p:nvSpPr>
        <p:spPr>
          <a:xfrm>
            <a:off x="609600" y="238125"/>
            <a:ext cx="9048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0047AB"/>
                </a:solidFill>
                <a:latin typeface="Arial"/>
                <a:ea typeface="Arial"/>
                <a:cs typeface="Arial"/>
                <a:sym typeface="Arial"/>
              </a:rPr>
              <a:t>06  개발 환경과 기술 스택</a:t>
            </a:r>
            <a:endParaRPr/>
          </a:p>
        </p:txBody>
      </p:sp>
      <p:sp>
        <p:nvSpPr>
          <p:cNvPr id="185" name="Google Shape;185;p14"/>
          <p:cNvSpPr/>
          <p:nvPr/>
        </p:nvSpPr>
        <p:spPr>
          <a:xfrm>
            <a:off x="609600" y="723900"/>
            <a:ext cx="10972800" cy="9525"/>
          </a:xfrm>
          <a:prstGeom prst="rect">
            <a:avLst/>
          </a:prstGeom>
          <a:solidFill>
            <a:srgbClr val="CDDA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6" name="Google Shape;18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2090" y="190500"/>
            <a:ext cx="1141369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4"/>
          <p:cNvSpPr/>
          <p:nvPr/>
        </p:nvSpPr>
        <p:spPr>
          <a:xfrm>
            <a:off x="609600" y="847725"/>
            <a:ext cx="109061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웹과 앱이 하나의 API와 화면을 함께 씁니다</a:t>
            </a:r>
            <a:endParaRPr/>
          </a:p>
        </p:txBody>
      </p:sp>
      <p:sp>
        <p:nvSpPr>
          <p:cNvPr id="188" name="Google Shape;188;p14"/>
          <p:cNvSpPr/>
          <p:nvPr/>
        </p:nvSpPr>
        <p:spPr>
          <a:xfrm>
            <a:off x="609600" y="6229350"/>
            <a:ext cx="10972800" cy="9525"/>
          </a:xfrm>
          <a:prstGeom prst="rect">
            <a:avLst/>
          </a:prstGeom>
          <a:solidFill>
            <a:srgbClr val="CDDA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9" name="Google Shape;18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4363" y="6200775"/>
            <a:ext cx="942975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4"/>
          <p:cNvSpPr/>
          <p:nvPr/>
        </p:nvSpPr>
        <p:spPr>
          <a:xfrm>
            <a:off x="1752600" y="6429375"/>
            <a:ext cx="85725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677086"/>
                </a:solidFill>
                <a:latin typeface="Arial"/>
                <a:ea typeface="Arial"/>
                <a:cs typeface="Arial"/>
                <a:sym typeface="Arial"/>
              </a:rPr>
              <a:t>팀 유레카 | 유상우 · 김동현 · 김병국 · 김호연 · 전선형</a:t>
            </a:r>
            <a:endParaRPr/>
          </a:p>
        </p:txBody>
      </p:sp>
      <p:sp>
        <p:nvSpPr>
          <p:cNvPr id="191" name="Google Shape;191;p14"/>
          <p:cNvSpPr/>
          <p:nvPr/>
        </p:nvSpPr>
        <p:spPr>
          <a:xfrm>
            <a:off x="11106150" y="6362700"/>
            <a:ext cx="476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677086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pic>
        <p:nvPicPr>
          <p:cNvPr id="192" name="Picture 191" descr="CodySafe 아키텍처: 사용자 기기, CodySafe 서버, 서버 밖 서비스의 연결과 데이터 흐름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" y="1536192"/>
            <a:ext cx="7315200" cy="4105656"/>
          </a:xfrm>
          <a:prstGeom prst="rect">
            <a:avLst/>
          </a:prstGeom>
        </p:spPr>
      </p:pic>
      <p:sp>
        <p:nvSpPr>
          <p:cNvPr id="193" name="TextBox 192"/>
          <p:cNvSpPr txBox="1"/>
          <p:nvPr/>
        </p:nvSpPr>
        <p:spPr>
          <a:xfrm>
            <a:off x="612648" y="57058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1">
                <a:solidFill>
                  <a:srgbClr val="0047AB"/>
                </a:solidFill>
                <a:latin typeface="Arial"/>
              </a:rPr>
              <a:t>음성은 서버가 발급한 임시 링크로 저장소에 직접 올리므로 기기에 AWS 키를 두지 않습니다.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8211312" y="1481328"/>
            <a:ext cx="53949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1">
                <a:solidFill>
                  <a:srgbClr val="162340"/>
                </a:solidFill>
                <a:latin typeface="Arial"/>
              </a:rPr>
              <a:t>구분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8897112" y="1481328"/>
            <a:ext cx="261518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1">
                <a:solidFill>
                  <a:srgbClr val="162340"/>
                </a:solidFill>
                <a:latin typeface="Arial"/>
              </a:rPr>
              <a:t>사용 기술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8138160" y="1737360"/>
            <a:ext cx="3447288" cy="9144"/>
          </a:xfrm>
          <a:prstGeom prst="rect">
            <a:avLst/>
          </a:prstGeom>
          <a:solidFill>
            <a:srgbClr val="CD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8211312" y="1737360"/>
            <a:ext cx="539496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162340"/>
                </a:solidFill>
                <a:latin typeface="Arial"/>
              </a:rPr>
              <a:t>서버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8897112" y="1737360"/>
            <a:ext cx="2615184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0">
                <a:solidFill>
                  <a:srgbClr val="162340"/>
                </a:solidFill>
                <a:latin typeface="Arial"/>
              </a:rPr>
              <a:t>FastAPI, Uvicorn, SQLite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8138160" y="2203704"/>
            <a:ext cx="3447288" cy="9144"/>
          </a:xfrm>
          <a:prstGeom prst="rect">
            <a:avLst/>
          </a:prstGeom>
          <a:solidFill>
            <a:srgbClr val="CD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8211312" y="2203704"/>
            <a:ext cx="539496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162340"/>
                </a:solidFill>
                <a:latin typeface="Arial"/>
              </a:rPr>
              <a:t>웹·앱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8897112" y="2203704"/>
            <a:ext cx="2615184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0">
                <a:solidFill>
                  <a:srgbClr val="162340"/>
                </a:solidFill>
                <a:latin typeface="Arial"/>
              </a:rPr>
              <a:t>HTML·CSS·JS, Kotlin, WebView, WorkManager, 접근성 서비스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8138160" y="2670048"/>
            <a:ext cx="3447288" cy="9144"/>
          </a:xfrm>
          <a:prstGeom prst="rect">
            <a:avLst/>
          </a:prstGeom>
          <a:solidFill>
            <a:srgbClr val="CD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8211312" y="2670048"/>
            <a:ext cx="539496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162340"/>
                </a:solidFill>
                <a:latin typeface="Arial"/>
              </a:rPr>
              <a:t>AI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8897112" y="2670048"/>
            <a:ext cx="2615184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0">
                <a:solidFill>
                  <a:srgbClr val="162340"/>
                </a:solidFill>
                <a:latin typeface="Arial"/>
              </a:rPr>
              <a:t>Claude, faster-whisper, Elasticsearch 8.17, bge-m3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8138160" y="3136391"/>
            <a:ext cx="3447288" cy="9144"/>
          </a:xfrm>
          <a:prstGeom prst="rect">
            <a:avLst/>
          </a:prstGeom>
          <a:solidFill>
            <a:srgbClr val="CD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8211312" y="3136391"/>
            <a:ext cx="539496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162340"/>
                </a:solidFill>
                <a:latin typeface="Arial"/>
              </a:rPr>
              <a:t>인프라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8897112" y="3136391"/>
            <a:ext cx="2615184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0">
                <a:solidFill>
                  <a:srgbClr val="162340"/>
                </a:solidFill>
                <a:latin typeface="Arial"/>
              </a:rPr>
              <a:t>EC2 t4g.large, c7i-flex.large, t4g.medium, S3, Terraform, Docker, GitHub Actions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8138160" y="3602735"/>
            <a:ext cx="3447288" cy="9144"/>
          </a:xfrm>
          <a:prstGeom prst="rect">
            <a:avLst/>
          </a:prstGeom>
          <a:solidFill>
            <a:srgbClr val="CD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8211312" y="3602735"/>
            <a:ext cx="539496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162340"/>
                </a:solidFill>
                <a:latin typeface="Arial"/>
              </a:rPr>
              <a:t>검증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8897112" y="3602735"/>
            <a:ext cx="2615184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0">
                <a:solidFill>
                  <a:srgbClr val="162340"/>
                </a:solidFill>
                <a:latin typeface="Arial"/>
              </a:rPr>
              <a:t>pytest 71개, 실제 음성 파일, 실제 폰 녹화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8138160" y="4069079"/>
            <a:ext cx="3447288" cy="9144"/>
          </a:xfrm>
          <a:prstGeom prst="rect">
            <a:avLst/>
          </a:prstGeom>
          <a:solidFill>
            <a:srgbClr val="CD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2" name="Picture 211" descr="Langfuse 트레이스 예시: 음성 변환, 사례 검색, 판정, 유형 검색 단계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0" y="4160520"/>
            <a:ext cx="1353312" cy="1828800"/>
          </a:xfrm>
          <a:prstGeom prst="rect">
            <a:avLst/>
          </a:prstGeom>
        </p:spPr>
      </p:pic>
      <p:sp>
        <p:nvSpPr>
          <p:cNvPr id="213" name="TextBox 212"/>
          <p:cNvSpPr txBox="1"/>
          <p:nvPr/>
        </p:nvSpPr>
        <p:spPr>
          <a:xfrm>
            <a:off x="9619488" y="4160520"/>
            <a:ext cx="19659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162340"/>
                </a:solidFill>
                <a:latin typeface="Arial"/>
              </a:rPr>
              <a:t>Langfuse 관측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62340"/>
                </a:solidFill>
                <a:latin typeface="Arial"/>
              </a:rPr>
              <a:t>트레이스 1건 예시: 통화 분석 5.08초, 판정 비용 $0.012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62340"/>
                </a:solidFill>
                <a:latin typeface="Arial"/>
              </a:rPr>
              <a:t>시간·토큰·판정 라벨만 전송합니다.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5"/>
          <p:cNvSpPr/>
          <p:nvPr/>
        </p:nvSpPr>
        <p:spPr>
          <a:xfrm>
            <a:off x="609600" y="238125"/>
            <a:ext cx="9048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0047AB"/>
                </a:solidFill>
                <a:latin typeface="Arial"/>
                <a:ea typeface="Arial"/>
                <a:cs typeface="Arial"/>
                <a:sym typeface="Arial"/>
              </a:rPr>
              <a:t>07  팀원별 역할 분담</a:t>
            </a:r>
            <a:endParaRPr/>
          </a:p>
        </p:txBody>
      </p:sp>
      <p:sp>
        <p:nvSpPr>
          <p:cNvPr id="211" name="Google Shape;211;p15"/>
          <p:cNvSpPr/>
          <p:nvPr/>
        </p:nvSpPr>
        <p:spPr>
          <a:xfrm>
            <a:off x="609600" y="723900"/>
            <a:ext cx="10972800" cy="9525"/>
          </a:xfrm>
          <a:prstGeom prst="rect">
            <a:avLst/>
          </a:prstGeom>
          <a:solidFill>
            <a:srgbClr val="CDDA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2" name="Google Shape;2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2090" y="190500"/>
            <a:ext cx="1141369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5"/>
          <p:cNvSpPr/>
          <p:nvPr/>
        </p:nvSpPr>
        <p:spPr>
          <a:xfrm>
            <a:off x="609600" y="847725"/>
            <a:ext cx="109061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팀원별 담당 업무와 기여 내용</a:t>
            </a:r>
            <a:endParaRPr/>
          </a:p>
        </p:txBody>
      </p:sp>
      <p:sp>
        <p:nvSpPr>
          <p:cNvPr id="214" name="Google Shape;214;p15"/>
          <p:cNvSpPr/>
          <p:nvPr/>
        </p:nvSpPr>
        <p:spPr>
          <a:xfrm>
            <a:off x="609600" y="6229350"/>
            <a:ext cx="10972800" cy="9525"/>
          </a:xfrm>
          <a:prstGeom prst="rect">
            <a:avLst/>
          </a:prstGeom>
          <a:solidFill>
            <a:srgbClr val="CDDA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5" name="Google Shape;21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4363" y="6200775"/>
            <a:ext cx="942975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5"/>
          <p:cNvSpPr/>
          <p:nvPr/>
        </p:nvSpPr>
        <p:spPr>
          <a:xfrm>
            <a:off x="1752600" y="6429375"/>
            <a:ext cx="85725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677086"/>
                </a:solidFill>
                <a:latin typeface="Arial"/>
                <a:ea typeface="Arial"/>
                <a:cs typeface="Arial"/>
                <a:sym typeface="Arial"/>
              </a:rPr>
              <a:t>팀 유레카 | 유상우 · 김동현 · 김병국 · 김호연 · 전선형</a:t>
            </a:r>
            <a:endParaRPr/>
          </a:p>
        </p:txBody>
      </p:sp>
      <p:sp>
        <p:nvSpPr>
          <p:cNvPr id="217" name="Google Shape;217;p15"/>
          <p:cNvSpPr/>
          <p:nvPr/>
        </p:nvSpPr>
        <p:spPr>
          <a:xfrm>
            <a:off x="11106150" y="6362700"/>
            <a:ext cx="476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677086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218" name="TextBox 217"/>
          <p:cNvSpPr txBox="1"/>
          <p:nvPr/>
        </p:nvSpPr>
        <p:spPr>
          <a:xfrm>
            <a:off x="685800" y="1517904"/>
            <a:ext cx="108813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>
                <a:solidFill>
                  <a:srgbClr val="162340"/>
                </a:solidFill>
                <a:latin typeface="Arial"/>
              </a:rPr>
              <a:t>이름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1920240" y="1517904"/>
            <a:ext cx="213969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>
                <a:solidFill>
                  <a:srgbClr val="162340"/>
                </a:solidFill>
                <a:latin typeface="Arial"/>
              </a:rPr>
              <a:t>담당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4206240" y="1517904"/>
            <a:ext cx="730605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>
                <a:solidFill>
                  <a:srgbClr val="162340"/>
                </a:solidFill>
                <a:latin typeface="Arial"/>
              </a:rPr>
              <a:t>기여 내용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612648" y="1847088"/>
            <a:ext cx="10972800" cy="9144"/>
          </a:xfrm>
          <a:prstGeom prst="rect">
            <a:avLst/>
          </a:prstGeom>
          <a:solidFill>
            <a:srgbClr val="CD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685800" y="1847088"/>
            <a:ext cx="1088136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>
                <a:solidFill>
                  <a:srgbClr val="162340"/>
                </a:solidFill>
                <a:latin typeface="Arial"/>
              </a:rPr>
              <a:t>김동현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1920240" y="1847088"/>
            <a:ext cx="2139696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0">
                <a:solidFill>
                  <a:srgbClr val="162340"/>
                </a:solidFill>
                <a:latin typeface="Arial"/>
              </a:rPr>
              <a:t>서비스 구현 총괄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4206240" y="1847088"/>
            <a:ext cx="7306056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0">
                <a:solidFill>
                  <a:srgbClr val="162340"/>
                </a:solidFill>
                <a:latin typeface="Arial"/>
              </a:rPr>
              <a:t>서버 API와 판정 파이프라인, 근거 대조, 가족 알림·잠금·암구호, 웹 화면, 안드로이드 앱, 체험·제보·피드백, S3·RAG·Langfuse 연동, 테스트, 배포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612648" y="2368296"/>
            <a:ext cx="10972800" cy="9144"/>
          </a:xfrm>
          <a:prstGeom prst="rect">
            <a:avLst/>
          </a:prstGeom>
          <a:solidFill>
            <a:srgbClr val="CD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685800" y="2368296"/>
            <a:ext cx="1088136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>
                <a:solidFill>
                  <a:srgbClr val="162340"/>
                </a:solidFill>
                <a:latin typeface="Arial"/>
              </a:rPr>
              <a:t>김호연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1920240" y="2368296"/>
            <a:ext cx="2139696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0">
                <a:solidFill>
                  <a:srgbClr val="162340"/>
                </a:solidFill>
                <a:latin typeface="Arial"/>
              </a:rPr>
              <a:t>초기 기획, 시나리오, 데이터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4206240" y="2368296"/>
            <a:ext cx="7306056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0">
                <a:solidFill>
                  <a:srgbClr val="162340"/>
                </a:solidFill>
                <a:latin typeface="Arial"/>
              </a:rPr>
              <a:t>문제 조사와 경쟁 서비스 비교, 기획·README 초안, 체험 시나리오 13개 작성, 검색 문서 90건 주입, 비밀값 관리 규칙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612648" y="2889503"/>
            <a:ext cx="10972800" cy="9144"/>
          </a:xfrm>
          <a:prstGeom prst="rect">
            <a:avLst/>
          </a:prstGeom>
          <a:solidFill>
            <a:srgbClr val="CD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685800" y="2889503"/>
            <a:ext cx="1088136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>
                <a:solidFill>
                  <a:srgbClr val="162340"/>
                </a:solidFill>
                <a:latin typeface="Arial"/>
              </a:rPr>
              <a:t>유상우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1920240" y="2889503"/>
            <a:ext cx="2139696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0">
                <a:solidFill>
                  <a:srgbClr val="162340"/>
                </a:solidFill>
                <a:latin typeface="Arial"/>
              </a:rPr>
              <a:t>브랜드 디자인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4206240" y="2889503"/>
            <a:ext cx="7306056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0">
                <a:solidFill>
                  <a:srgbClr val="162340"/>
                </a:solidFill>
                <a:latin typeface="Arial"/>
              </a:rPr>
              <a:t>CodySafe 브랜드 가이드, 로고 자산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612648" y="3410711"/>
            <a:ext cx="10972800" cy="9144"/>
          </a:xfrm>
          <a:prstGeom prst="rect">
            <a:avLst/>
          </a:prstGeom>
          <a:solidFill>
            <a:srgbClr val="CD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685800" y="3410711"/>
            <a:ext cx="1088136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>
                <a:solidFill>
                  <a:srgbClr val="162340"/>
                </a:solidFill>
                <a:latin typeface="Arial"/>
              </a:rPr>
              <a:t>김병국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920240" y="3410711"/>
            <a:ext cx="2139696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0">
                <a:solidFill>
                  <a:srgbClr val="162340"/>
                </a:solidFill>
                <a:latin typeface="Arial"/>
              </a:rPr>
              <a:t>QA, 기능 기획, 경쟁사 분석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4206240" y="3410711"/>
            <a:ext cx="7306056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0">
                <a:solidFill>
                  <a:srgbClr val="162340"/>
                </a:solidFill>
                <a:latin typeface="Arial"/>
              </a:rPr>
              <a:t>QA, 기능 기획, 경쟁사 비교 분석. URL 탐지를 개발했으나 통화 후 대응이라는 목적과 맞지 않아 폐기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612648" y="3931920"/>
            <a:ext cx="10972800" cy="9144"/>
          </a:xfrm>
          <a:prstGeom prst="rect">
            <a:avLst/>
          </a:prstGeom>
          <a:solidFill>
            <a:srgbClr val="CD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685800" y="3931920"/>
            <a:ext cx="1088136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>
                <a:solidFill>
                  <a:srgbClr val="162340"/>
                </a:solidFill>
                <a:latin typeface="Arial"/>
              </a:rPr>
              <a:t>전선형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1920240" y="3931920"/>
            <a:ext cx="2139696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0">
                <a:solidFill>
                  <a:srgbClr val="162340"/>
                </a:solidFill>
                <a:latin typeface="Arial"/>
              </a:rPr>
              <a:t>데이터셋, 기능 기획, QA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4206240" y="3931920"/>
            <a:ext cx="7306056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0">
                <a:solidFill>
                  <a:srgbClr val="162340"/>
                </a:solidFill>
                <a:latin typeface="Arial"/>
              </a:rPr>
              <a:t>사기 사례 검색 데이터 90건 제작, 서비스 기능 기획, 품질 검증(QA)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612648" y="4453128"/>
            <a:ext cx="10972800" cy="9144"/>
          </a:xfrm>
          <a:prstGeom prst="rect">
            <a:avLst/>
          </a:prstGeom>
          <a:solidFill>
            <a:srgbClr val="CD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ounded Rectangle 241"/>
          <p:cNvSpPr/>
          <p:nvPr/>
        </p:nvSpPr>
        <p:spPr>
          <a:xfrm>
            <a:off x="612648" y="4553712"/>
            <a:ext cx="10972800" cy="1389888"/>
          </a:xfrm>
          <a:prstGeom prst="roundRect">
            <a:avLst>
              <a:gd name="adj" fmla="val 6907"/>
            </a:avLst>
          </a:prstGeom>
          <a:solidFill>
            <a:srgbClr val="ED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822960" y="4645152"/>
            <a:ext cx="105613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1250" b="1">
                <a:solidFill>
                  <a:srgbClr val="0047AB"/>
                </a:solidFill>
                <a:latin typeface="Arial"/>
              </a:rPr>
              <a:t>협업 방식  </a:t>
            </a:r>
            <a:r>
              <a:rPr sz="1250" b="0">
                <a:solidFill>
                  <a:srgbClr val="162340"/>
                </a:solidFill>
                <a:latin typeface="Arial"/>
              </a:rPr>
              <a:t>GitHub 브랜치와 Pull Request로 합치고, 초기 QR 판독 기획과 현재 기획을 저장소 문서로 남겼습니다.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0047AB"/>
                </a:solidFill>
                <a:latin typeface="Arial"/>
              </a:rPr>
              <a:t>화면 QA 수정  </a:t>
            </a:r>
            <a:r>
              <a:rPr sz="1250" b="0">
                <a:solidFill>
                  <a:srgbClr val="162340"/>
                </a:solidFill>
                <a:latin typeface="Arial"/>
              </a:rPr>
              <a:t>체험 선택지의 행동 설명 분리, 5턴 확장(e352ae7, 55c43ac), 아래 메뉴 항상 표시(f161a70, 03524da), 상태바 겹침 수정(55c43ac)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0047AB"/>
                </a:solidFill>
                <a:latin typeface="Arial"/>
              </a:rPr>
              <a:t>산출물  </a:t>
            </a:r>
            <a:r>
              <a:rPr sz="1250" b="0">
                <a:solidFill>
                  <a:srgbClr val="162340"/>
                </a:solidFill>
                <a:latin typeface="Arial"/>
              </a:rPr>
              <a:t>github.com/rla8127/CodySafe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6"/>
          <p:cNvSpPr/>
          <p:nvPr/>
        </p:nvSpPr>
        <p:spPr>
          <a:xfrm>
            <a:off x="609600" y="238125"/>
            <a:ext cx="9048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0047AB"/>
                </a:solidFill>
                <a:latin typeface="Arial"/>
                <a:ea typeface="Arial"/>
                <a:cs typeface="Arial"/>
                <a:sym typeface="Arial"/>
              </a:rPr>
              <a:t>08  외부 자원 활용 내역</a:t>
            </a:r>
            <a:endParaRPr/>
          </a:p>
        </p:txBody>
      </p:sp>
      <p:sp>
        <p:nvSpPr>
          <p:cNvPr id="243" name="Google Shape;243;p16"/>
          <p:cNvSpPr/>
          <p:nvPr/>
        </p:nvSpPr>
        <p:spPr>
          <a:xfrm>
            <a:off x="609600" y="723900"/>
            <a:ext cx="10972800" cy="9525"/>
          </a:xfrm>
          <a:prstGeom prst="rect">
            <a:avLst/>
          </a:prstGeom>
          <a:solidFill>
            <a:srgbClr val="CDDA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4" name="Google Shape;24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2090" y="190500"/>
            <a:ext cx="1141369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6"/>
          <p:cNvSpPr/>
          <p:nvPr/>
        </p:nvSpPr>
        <p:spPr>
          <a:xfrm>
            <a:off x="609600" y="847725"/>
            <a:ext cx="109061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사용한 자원과 사전 보유 코드를 모두 밝힙니다</a:t>
            </a:r>
            <a:endParaRPr/>
          </a:p>
        </p:txBody>
      </p:sp>
      <p:sp>
        <p:nvSpPr>
          <p:cNvPr id="246" name="Google Shape;246;p16"/>
          <p:cNvSpPr/>
          <p:nvPr/>
        </p:nvSpPr>
        <p:spPr>
          <a:xfrm>
            <a:off x="609600" y="6229350"/>
            <a:ext cx="10972800" cy="9525"/>
          </a:xfrm>
          <a:prstGeom prst="rect">
            <a:avLst/>
          </a:prstGeom>
          <a:solidFill>
            <a:srgbClr val="CDDA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7" name="Google Shape;24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4363" y="6200775"/>
            <a:ext cx="942975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6"/>
          <p:cNvSpPr/>
          <p:nvPr/>
        </p:nvSpPr>
        <p:spPr>
          <a:xfrm>
            <a:off x="1752600" y="6429375"/>
            <a:ext cx="85725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677086"/>
                </a:solidFill>
                <a:latin typeface="Arial"/>
                <a:ea typeface="Arial"/>
                <a:cs typeface="Arial"/>
                <a:sym typeface="Arial"/>
              </a:rPr>
              <a:t>팀 유레카 | 유상우 · 김동현 · 김병국 · 김호연 · 전선형</a:t>
            </a:r>
            <a:endParaRPr/>
          </a:p>
        </p:txBody>
      </p:sp>
      <p:sp>
        <p:nvSpPr>
          <p:cNvPr id="249" name="Google Shape;249;p16"/>
          <p:cNvSpPr/>
          <p:nvPr/>
        </p:nvSpPr>
        <p:spPr>
          <a:xfrm>
            <a:off x="11106150" y="6362700"/>
            <a:ext cx="476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677086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  <p:sp>
        <p:nvSpPr>
          <p:cNvPr id="250" name="TextBox 249"/>
          <p:cNvSpPr txBox="1"/>
          <p:nvPr/>
        </p:nvSpPr>
        <p:spPr>
          <a:xfrm>
            <a:off x="685800" y="1481328"/>
            <a:ext cx="264261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162340"/>
                </a:solidFill>
                <a:latin typeface="Arial"/>
              </a:rPr>
              <a:t>명칭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3474720" y="1481328"/>
            <a:ext cx="13624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162340"/>
                </a:solidFill>
                <a:latin typeface="Arial"/>
              </a:rPr>
              <a:t>용도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4983479" y="1481328"/>
            <a:ext cx="99669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162340"/>
                </a:solidFill>
                <a:latin typeface="Arial"/>
              </a:rPr>
              <a:t>라이선스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612648" y="1755648"/>
            <a:ext cx="5440679" cy="9144"/>
          </a:xfrm>
          <a:prstGeom prst="rect">
            <a:avLst/>
          </a:prstGeom>
          <a:solidFill>
            <a:srgbClr val="CD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685800" y="1755648"/>
            <a:ext cx="2642615" cy="406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75" b="0">
                <a:solidFill>
                  <a:srgbClr val="162340"/>
                </a:solidFill>
                <a:latin typeface="Arial"/>
              </a:rPr>
              <a:t>FastAPI 0.162, Uvicorn 0.54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3474720" y="1755648"/>
            <a:ext cx="1362456" cy="406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75" b="0">
                <a:solidFill>
                  <a:srgbClr val="162340"/>
                </a:solidFill>
                <a:latin typeface="Arial"/>
              </a:rPr>
              <a:t>서버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4983479" y="1755648"/>
            <a:ext cx="996696" cy="406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75" b="0">
                <a:solidFill>
                  <a:srgbClr val="162340"/>
                </a:solidFill>
                <a:latin typeface="Arial"/>
              </a:rPr>
              <a:t>MIT, BSD-3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612648" y="2162556"/>
            <a:ext cx="5440679" cy="9144"/>
          </a:xfrm>
          <a:prstGeom prst="rect">
            <a:avLst/>
          </a:prstGeom>
          <a:solidFill>
            <a:srgbClr val="CD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685800" y="2162556"/>
            <a:ext cx="2642615" cy="406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75" b="0">
                <a:solidFill>
                  <a:srgbClr val="162340"/>
                </a:solidFill>
                <a:latin typeface="Arial"/>
              </a:rPr>
              <a:t>boto3 1.43, httpx 0.28, pytest 9.2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3474720" y="2162556"/>
            <a:ext cx="1362456" cy="406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75" b="0">
                <a:solidFill>
                  <a:srgbClr val="162340"/>
                </a:solidFill>
                <a:latin typeface="Arial"/>
              </a:rPr>
              <a:t>S3, HTTP, 테스트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4983479" y="2162556"/>
            <a:ext cx="996696" cy="406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75" b="0">
                <a:solidFill>
                  <a:srgbClr val="162340"/>
                </a:solidFill>
                <a:latin typeface="Arial"/>
              </a:rPr>
              <a:t>Apache 2.0, BSD-3, MIT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612648" y="2569464"/>
            <a:ext cx="5440679" cy="9144"/>
          </a:xfrm>
          <a:prstGeom prst="rect">
            <a:avLst/>
          </a:prstGeom>
          <a:solidFill>
            <a:srgbClr val="CD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685800" y="2569464"/>
            <a:ext cx="2642615" cy="406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75" b="0">
                <a:solidFill>
                  <a:srgbClr val="162340"/>
                </a:solidFill>
                <a:latin typeface="Arial"/>
              </a:rPr>
              <a:t>anthropic 2.3, openai 3.42, langfuse 5.1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3474720" y="2569464"/>
            <a:ext cx="1362456" cy="406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75" b="0">
                <a:solidFill>
                  <a:srgbClr val="162340"/>
                </a:solidFill>
                <a:latin typeface="Arial"/>
              </a:rPr>
              <a:t>API 클라이언트, 관측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4983479" y="2569464"/>
            <a:ext cx="996696" cy="406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75" b="0">
                <a:solidFill>
                  <a:srgbClr val="162340"/>
                </a:solidFill>
                <a:latin typeface="Arial"/>
              </a:rPr>
              <a:t>MIT, Apache 2.0, MIT</a:t>
            </a:r>
          </a:p>
        </p:txBody>
      </p:sp>
      <p:sp>
        <p:nvSpPr>
          <p:cNvPr id="265" name="Rectangle 264"/>
          <p:cNvSpPr/>
          <p:nvPr/>
        </p:nvSpPr>
        <p:spPr>
          <a:xfrm>
            <a:off x="612648" y="2976372"/>
            <a:ext cx="5440679" cy="9144"/>
          </a:xfrm>
          <a:prstGeom prst="rect">
            <a:avLst/>
          </a:prstGeom>
          <a:solidFill>
            <a:srgbClr val="CD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685800" y="2976372"/>
            <a:ext cx="2642615" cy="406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75" b="0">
                <a:solidFill>
                  <a:srgbClr val="162340"/>
                </a:solidFill>
                <a:latin typeface="Arial"/>
              </a:rPr>
              <a:t>WorkManager 2.9.1, DocumentFile 1.0.1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3474720" y="2976372"/>
            <a:ext cx="1362456" cy="406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75" b="0">
                <a:solidFill>
                  <a:srgbClr val="162340"/>
                </a:solidFill>
                <a:latin typeface="Arial"/>
              </a:rPr>
              <a:t>앱 주기 실행, 폴더 접근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4983479" y="2976372"/>
            <a:ext cx="996696" cy="406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75" b="0">
                <a:solidFill>
                  <a:srgbClr val="162340"/>
                </a:solidFill>
                <a:latin typeface="Arial"/>
              </a:rPr>
              <a:t>Apache 2.0</a:t>
            </a:r>
          </a:p>
        </p:txBody>
      </p:sp>
      <p:sp>
        <p:nvSpPr>
          <p:cNvPr id="269" name="Rectangle 268"/>
          <p:cNvSpPr/>
          <p:nvPr/>
        </p:nvSpPr>
        <p:spPr>
          <a:xfrm>
            <a:off x="612648" y="3383279"/>
            <a:ext cx="5440679" cy="9144"/>
          </a:xfrm>
          <a:prstGeom prst="rect">
            <a:avLst/>
          </a:prstGeom>
          <a:solidFill>
            <a:srgbClr val="CD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685800" y="3383279"/>
            <a:ext cx="2642615" cy="406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75" b="0">
                <a:solidFill>
                  <a:srgbClr val="162340"/>
                </a:solidFill>
                <a:latin typeface="Arial"/>
              </a:rPr>
              <a:t>Elasticsearch 8.17.0, analysis-nori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3474720" y="3383279"/>
            <a:ext cx="1362456" cy="406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75" b="0">
                <a:solidFill>
                  <a:srgbClr val="162340"/>
                </a:solidFill>
                <a:latin typeface="Arial"/>
              </a:rPr>
              <a:t>사례 검색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4983479" y="3383279"/>
            <a:ext cx="996696" cy="406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75" b="0">
                <a:solidFill>
                  <a:srgbClr val="162340"/>
                </a:solidFill>
                <a:latin typeface="Arial"/>
              </a:rPr>
              <a:t>Elastic License 2.0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612648" y="3790187"/>
            <a:ext cx="5440679" cy="9144"/>
          </a:xfrm>
          <a:prstGeom prst="rect">
            <a:avLst/>
          </a:prstGeom>
          <a:solidFill>
            <a:srgbClr val="CD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TextBox 273"/>
          <p:cNvSpPr txBox="1"/>
          <p:nvPr/>
        </p:nvSpPr>
        <p:spPr>
          <a:xfrm>
            <a:off x="685800" y="3790187"/>
            <a:ext cx="2642615" cy="406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75" b="0">
                <a:solidFill>
                  <a:srgbClr val="162340"/>
                </a:solidFill>
                <a:latin typeface="Arial"/>
              </a:rPr>
              <a:t>bge-m3, sentence-transformers, PyTorch, elasticsearch-py, pypdf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3474720" y="3790187"/>
            <a:ext cx="1362456" cy="406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75" b="0">
                <a:solidFill>
                  <a:srgbClr val="162340"/>
                </a:solidFill>
                <a:latin typeface="Arial"/>
              </a:rPr>
              <a:t>임베딩, 문서 적재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4983479" y="3790187"/>
            <a:ext cx="996696" cy="406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75" b="0">
                <a:solidFill>
                  <a:srgbClr val="162340"/>
                </a:solidFill>
                <a:latin typeface="Arial"/>
              </a:rPr>
              <a:t>MIT, Apache 2.0, BSD-3</a:t>
            </a:r>
          </a:p>
        </p:txBody>
      </p:sp>
      <p:sp>
        <p:nvSpPr>
          <p:cNvPr id="277" name="Rectangle 276"/>
          <p:cNvSpPr/>
          <p:nvPr/>
        </p:nvSpPr>
        <p:spPr>
          <a:xfrm>
            <a:off x="612648" y="4197096"/>
            <a:ext cx="5440679" cy="9144"/>
          </a:xfrm>
          <a:prstGeom prst="rect">
            <a:avLst/>
          </a:prstGeom>
          <a:solidFill>
            <a:srgbClr val="CD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685800" y="4197096"/>
            <a:ext cx="2642615" cy="406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75" b="0">
                <a:solidFill>
                  <a:srgbClr val="162340"/>
                </a:solidFill>
                <a:latin typeface="Arial"/>
              </a:rPr>
              <a:t>faster-whisper 1.2.1, CTranslate2 4.8.4, Whisper large-v3-turbo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3474720" y="4197096"/>
            <a:ext cx="1362456" cy="406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75" b="0">
                <a:solidFill>
                  <a:srgbClr val="162340"/>
                </a:solidFill>
                <a:latin typeface="Arial"/>
              </a:rPr>
              <a:t>자체 STT (최종 선정)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4983479" y="4197096"/>
            <a:ext cx="996696" cy="406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75" b="0">
                <a:solidFill>
                  <a:srgbClr val="162340"/>
                </a:solidFill>
                <a:latin typeface="Arial"/>
              </a:rPr>
              <a:t>MIT</a:t>
            </a:r>
          </a:p>
        </p:txBody>
      </p:sp>
      <p:sp>
        <p:nvSpPr>
          <p:cNvPr id="281" name="Rectangle 280"/>
          <p:cNvSpPr/>
          <p:nvPr/>
        </p:nvSpPr>
        <p:spPr>
          <a:xfrm>
            <a:off x="612648" y="4604004"/>
            <a:ext cx="5440679" cy="9144"/>
          </a:xfrm>
          <a:prstGeom prst="rect">
            <a:avLst/>
          </a:prstGeom>
          <a:solidFill>
            <a:srgbClr val="CD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685800" y="4604004"/>
            <a:ext cx="2642615" cy="406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75" b="0">
                <a:solidFill>
                  <a:srgbClr val="162340"/>
                </a:solidFill>
                <a:latin typeface="Arial"/>
              </a:rPr>
              <a:t>Whisper large-v3, whisper-medium-komixv2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3474720" y="4604004"/>
            <a:ext cx="1362456" cy="406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75" b="0">
                <a:solidFill>
                  <a:srgbClr val="162340"/>
                </a:solidFill>
                <a:latin typeface="Arial"/>
              </a:rPr>
              <a:t>STT 비교 (미채택)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4983479" y="4604004"/>
            <a:ext cx="996696" cy="406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75" b="0">
                <a:solidFill>
                  <a:srgbClr val="162340"/>
                </a:solidFill>
                <a:latin typeface="Arial"/>
              </a:rPr>
              <a:t>MIT, 모델 카드 표기 없음</a:t>
            </a:r>
          </a:p>
        </p:txBody>
      </p:sp>
      <p:sp>
        <p:nvSpPr>
          <p:cNvPr id="285" name="Rectangle 284"/>
          <p:cNvSpPr/>
          <p:nvPr/>
        </p:nvSpPr>
        <p:spPr>
          <a:xfrm>
            <a:off x="612648" y="5010912"/>
            <a:ext cx="5440679" cy="9144"/>
          </a:xfrm>
          <a:prstGeom prst="rect">
            <a:avLst/>
          </a:prstGeom>
          <a:solidFill>
            <a:srgbClr val="CD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685800" y="5010912"/>
            <a:ext cx="2642615" cy="406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75" b="0">
                <a:solidFill>
                  <a:srgbClr val="162340"/>
                </a:solidFill>
                <a:latin typeface="Arial"/>
              </a:rPr>
              <a:t>Qwen3-ASR 0.6B·1.7B, qwen-asr 0.0.6, Transformers 4.57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3474720" y="5010912"/>
            <a:ext cx="1362456" cy="406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75" b="0">
                <a:solidFill>
                  <a:srgbClr val="162340"/>
                </a:solidFill>
                <a:latin typeface="Arial"/>
              </a:rPr>
              <a:t>STT 비교 (미채택)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4983479" y="5010912"/>
            <a:ext cx="996696" cy="406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75" b="0">
                <a:solidFill>
                  <a:srgbClr val="162340"/>
                </a:solidFill>
                <a:latin typeface="Arial"/>
              </a:rPr>
              <a:t>Apache 2.0</a:t>
            </a:r>
          </a:p>
        </p:txBody>
      </p:sp>
      <p:sp>
        <p:nvSpPr>
          <p:cNvPr id="289" name="Rectangle 288"/>
          <p:cNvSpPr/>
          <p:nvPr/>
        </p:nvSpPr>
        <p:spPr>
          <a:xfrm>
            <a:off x="612648" y="5417820"/>
            <a:ext cx="5440679" cy="9144"/>
          </a:xfrm>
          <a:prstGeom prst="rect">
            <a:avLst/>
          </a:prstGeom>
          <a:solidFill>
            <a:srgbClr val="CD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685800" y="5417820"/>
            <a:ext cx="2642615" cy="406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75" b="0">
                <a:solidFill>
                  <a:srgbClr val="162340"/>
                </a:solidFill>
                <a:latin typeface="Arial"/>
              </a:rPr>
              <a:t>Pretendard 1.3.9, SUIT 2.0.5, 나눔스퀘어 라운드, Lucide 0.460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3474720" y="5417820"/>
            <a:ext cx="1362456" cy="406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75" b="0">
                <a:solidFill>
                  <a:srgbClr val="162340"/>
                </a:solidFill>
                <a:latin typeface="Arial"/>
              </a:rPr>
              <a:t>폰트, 아이콘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4983479" y="5417820"/>
            <a:ext cx="996696" cy="406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75" b="0">
                <a:solidFill>
                  <a:srgbClr val="162340"/>
                </a:solidFill>
                <a:latin typeface="Arial"/>
              </a:rPr>
              <a:t>OFL, ISC</a:t>
            </a:r>
          </a:p>
        </p:txBody>
      </p:sp>
      <p:sp>
        <p:nvSpPr>
          <p:cNvPr id="293" name="Rectangle 292"/>
          <p:cNvSpPr/>
          <p:nvPr/>
        </p:nvSpPr>
        <p:spPr>
          <a:xfrm>
            <a:off x="612648" y="5824728"/>
            <a:ext cx="5440679" cy="9144"/>
          </a:xfrm>
          <a:prstGeom prst="rect">
            <a:avLst/>
          </a:prstGeom>
          <a:solidFill>
            <a:srgbClr val="CD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TextBox 293"/>
          <p:cNvSpPr txBox="1"/>
          <p:nvPr/>
        </p:nvSpPr>
        <p:spPr>
          <a:xfrm>
            <a:off x="6309360" y="1481328"/>
            <a:ext cx="24597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162340"/>
                </a:solidFill>
                <a:latin typeface="Arial"/>
              </a:rPr>
              <a:t>명칭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8915400" y="1481328"/>
            <a:ext cx="163677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162340"/>
                </a:solidFill>
                <a:latin typeface="Arial"/>
              </a:rPr>
              <a:t>용도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10698480" y="1481328"/>
            <a:ext cx="8138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162340"/>
                </a:solidFill>
                <a:latin typeface="Arial"/>
              </a:rPr>
              <a:t>조건</a:t>
            </a:r>
          </a:p>
        </p:txBody>
      </p:sp>
      <p:sp>
        <p:nvSpPr>
          <p:cNvPr id="297" name="Rectangle 296"/>
          <p:cNvSpPr/>
          <p:nvPr/>
        </p:nvSpPr>
        <p:spPr>
          <a:xfrm>
            <a:off x="6236208" y="1755648"/>
            <a:ext cx="5349240" cy="9144"/>
          </a:xfrm>
          <a:prstGeom prst="rect">
            <a:avLst/>
          </a:prstGeom>
          <a:solidFill>
            <a:srgbClr val="CD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TextBox 297"/>
          <p:cNvSpPr txBox="1"/>
          <p:nvPr/>
        </p:nvSpPr>
        <p:spPr>
          <a:xfrm>
            <a:off x="6309360" y="1755648"/>
            <a:ext cx="2459736" cy="406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75" b="0">
                <a:solidFill>
                  <a:srgbClr val="162340"/>
                </a:solidFill>
                <a:latin typeface="Arial"/>
              </a:rPr>
              <a:t>Claude opus-5-5, haiku-5-5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8915400" y="1755648"/>
            <a:ext cx="1636776" cy="406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75" b="0">
                <a:solidFill>
                  <a:srgbClr val="162340"/>
                </a:solidFill>
                <a:latin typeface="Arial"/>
              </a:rPr>
              <a:t>판정, 재순위, 생성, 구조화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10698480" y="1755648"/>
            <a:ext cx="813816" cy="406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75" b="0">
                <a:solidFill>
                  <a:srgbClr val="162340"/>
                </a:solidFill>
                <a:latin typeface="Arial"/>
              </a:rPr>
              <a:t>상용 API</a:t>
            </a:r>
          </a:p>
        </p:txBody>
      </p:sp>
      <p:sp>
        <p:nvSpPr>
          <p:cNvPr id="301" name="Rectangle 300"/>
          <p:cNvSpPr/>
          <p:nvPr/>
        </p:nvSpPr>
        <p:spPr>
          <a:xfrm>
            <a:off x="6236208" y="2162556"/>
            <a:ext cx="5349240" cy="9144"/>
          </a:xfrm>
          <a:prstGeom prst="rect">
            <a:avLst/>
          </a:prstGeom>
          <a:solidFill>
            <a:srgbClr val="CD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TextBox 301"/>
          <p:cNvSpPr txBox="1"/>
          <p:nvPr/>
        </p:nvSpPr>
        <p:spPr>
          <a:xfrm>
            <a:off x="6309360" y="2162556"/>
            <a:ext cx="2459736" cy="406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75" b="0">
                <a:solidFill>
                  <a:srgbClr val="162340"/>
                </a:solidFill>
                <a:latin typeface="Arial"/>
              </a:rPr>
              <a:t>OpenAI whisper-1, gpt-image-2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8915400" y="2162556"/>
            <a:ext cx="1636776" cy="406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75" b="0">
                <a:solidFill>
                  <a:srgbClr val="162340"/>
                </a:solidFill>
                <a:latin typeface="Arial"/>
              </a:rPr>
              <a:t>STT 대체 경로, 가상 인물 사진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10698480" y="2162556"/>
            <a:ext cx="813816" cy="406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75" b="0">
                <a:solidFill>
                  <a:srgbClr val="162340"/>
                </a:solidFill>
                <a:latin typeface="Arial"/>
              </a:rPr>
              <a:t>상용 API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6236208" y="2569464"/>
            <a:ext cx="5349240" cy="9144"/>
          </a:xfrm>
          <a:prstGeom prst="rect">
            <a:avLst/>
          </a:prstGeom>
          <a:solidFill>
            <a:srgbClr val="CD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TextBox 305"/>
          <p:cNvSpPr txBox="1"/>
          <p:nvPr/>
        </p:nvSpPr>
        <p:spPr>
          <a:xfrm>
            <a:off x="6309360" y="2569464"/>
            <a:ext cx="2459736" cy="406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75" b="0">
                <a:solidFill>
                  <a:srgbClr val="162340"/>
                </a:solidFill>
                <a:latin typeface="Arial"/>
              </a:rPr>
              <a:t>Amazon Polly, ElevenLabs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8915400" y="2569464"/>
            <a:ext cx="1636776" cy="406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75" b="0">
                <a:solidFill>
                  <a:srgbClr val="162340"/>
                </a:solidFill>
                <a:latin typeface="Arial"/>
              </a:rPr>
              <a:t>STT 평가 데이터, 음성 생성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10698480" y="2569464"/>
            <a:ext cx="813816" cy="406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75" b="0">
                <a:solidFill>
                  <a:srgbClr val="162340"/>
                </a:solidFill>
                <a:latin typeface="Arial"/>
              </a:rPr>
              <a:t>상용 API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6236208" y="2976372"/>
            <a:ext cx="5349240" cy="9144"/>
          </a:xfrm>
          <a:prstGeom prst="rect">
            <a:avLst/>
          </a:prstGeom>
          <a:solidFill>
            <a:srgbClr val="CD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TextBox 309"/>
          <p:cNvSpPr txBox="1"/>
          <p:nvPr/>
        </p:nvSpPr>
        <p:spPr>
          <a:xfrm>
            <a:off x="6309360" y="2976372"/>
            <a:ext cx="2459736" cy="406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75" b="0">
                <a:solidFill>
                  <a:srgbClr val="162340"/>
                </a:solidFill>
                <a:latin typeface="Arial"/>
              </a:rPr>
              <a:t>Amazon EC2 3대, S3, Langfuse Cloud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8915400" y="2976372"/>
            <a:ext cx="1636776" cy="406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75" b="0">
                <a:solidFill>
                  <a:srgbClr val="162340"/>
                </a:solidFill>
                <a:latin typeface="Arial"/>
              </a:rPr>
              <a:t>서버, 음성 저장, 관측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10698480" y="2976372"/>
            <a:ext cx="813816" cy="406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75" b="0">
                <a:solidFill>
                  <a:srgbClr val="162340"/>
                </a:solidFill>
                <a:latin typeface="Arial"/>
              </a:rPr>
              <a:t>상용 서비스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6236208" y="3383279"/>
            <a:ext cx="5349240" cy="9144"/>
          </a:xfrm>
          <a:prstGeom prst="rect">
            <a:avLst/>
          </a:prstGeom>
          <a:solidFill>
            <a:srgbClr val="CD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TextBox 313"/>
          <p:cNvSpPr txBox="1"/>
          <p:nvPr/>
        </p:nvSpPr>
        <p:spPr>
          <a:xfrm>
            <a:off x="6309360" y="3383279"/>
            <a:ext cx="2459736" cy="406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75" b="0">
                <a:solidFill>
                  <a:srgbClr val="162340"/>
                </a:solidFill>
                <a:latin typeface="Arial"/>
              </a:rPr>
              <a:t>Terraform, Docker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8915400" y="3383279"/>
            <a:ext cx="1636776" cy="406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75" b="0">
                <a:solidFill>
                  <a:srgbClr val="162340"/>
                </a:solidFill>
                <a:latin typeface="Arial"/>
              </a:rPr>
              <a:t>검색 서버 구성</a:t>
            </a:r>
          </a:p>
        </p:txBody>
      </p:sp>
      <p:sp>
        <p:nvSpPr>
          <p:cNvPr id="316" name="TextBox 315"/>
          <p:cNvSpPr txBox="1"/>
          <p:nvPr/>
        </p:nvSpPr>
        <p:spPr>
          <a:xfrm>
            <a:off x="10698480" y="3383279"/>
            <a:ext cx="813816" cy="406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75" b="0">
                <a:solidFill>
                  <a:srgbClr val="162340"/>
                </a:solidFill>
                <a:latin typeface="Arial"/>
              </a:rPr>
              <a:t>BUSL 1.1, Apache 2.0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6236208" y="3790187"/>
            <a:ext cx="5349240" cy="9144"/>
          </a:xfrm>
          <a:prstGeom prst="rect">
            <a:avLst/>
          </a:prstGeom>
          <a:solidFill>
            <a:srgbClr val="CD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TextBox 317"/>
          <p:cNvSpPr txBox="1"/>
          <p:nvPr/>
        </p:nvSpPr>
        <p:spPr>
          <a:xfrm>
            <a:off x="6309360" y="3790187"/>
            <a:ext cx="2459736" cy="406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75" b="0">
                <a:solidFill>
                  <a:srgbClr val="162340"/>
                </a:solidFill>
                <a:latin typeface="Arial"/>
              </a:rPr>
              <a:t>Claude Code, OpenAI Codex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8915400" y="3790187"/>
            <a:ext cx="1636776" cy="406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75" b="0">
                <a:solidFill>
                  <a:srgbClr val="162340"/>
                </a:solidFill>
                <a:latin typeface="Arial"/>
              </a:rPr>
              <a:t>코드·문서 작성 보조</a:t>
            </a:r>
          </a:p>
        </p:txBody>
      </p:sp>
      <p:sp>
        <p:nvSpPr>
          <p:cNvPr id="320" name="TextBox 319"/>
          <p:cNvSpPr txBox="1"/>
          <p:nvPr/>
        </p:nvSpPr>
        <p:spPr>
          <a:xfrm>
            <a:off x="10698480" y="3790187"/>
            <a:ext cx="813816" cy="406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75" b="0">
                <a:solidFill>
                  <a:srgbClr val="162340"/>
                </a:solidFill>
                <a:latin typeface="Arial"/>
              </a:rPr>
              <a:t>상용 서비스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6236208" y="4197096"/>
            <a:ext cx="5349240" cy="9144"/>
          </a:xfrm>
          <a:prstGeom prst="rect">
            <a:avLst/>
          </a:prstGeom>
          <a:solidFill>
            <a:srgbClr val="CD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TextBox 321"/>
          <p:cNvSpPr txBox="1"/>
          <p:nvPr/>
        </p:nvSpPr>
        <p:spPr>
          <a:xfrm>
            <a:off x="6309360" y="4197096"/>
            <a:ext cx="2459736" cy="406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75" b="0">
                <a:solidFill>
                  <a:srgbClr val="162340"/>
                </a:solidFill>
                <a:latin typeface="Arial"/>
              </a:rPr>
              <a:t>금융당국 보도자료, KISA 118 기반 합성 데이터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8915400" y="4197096"/>
            <a:ext cx="1636776" cy="406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75" b="0">
                <a:solidFill>
                  <a:srgbClr val="162340"/>
                </a:solidFill>
                <a:latin typeface="Arial"/>
              </a:rPr>
              <a:t>검색 문서 (요약만 적재)</a:t>
            </a:r>
          </a:p>
        </p:txBody>
      </p:sp>
      <p:sp>
        <p:nvSpPr>
          <p:cNvPr id="324" name="TextBox 323"/>
          <p:cNvSpPr txBox="1"/>
          <p:nvPr/>
        </p:nvSpPr>
        <p:spPr>
          <a:xfrm>
            <a:off x="10698480" y="4197096"/>
            <a:ext cx="813816" cy="406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75" b="0">
                <a:solidFill>
                  <a:srgbClr val="162340"/>
                </a:solidFill>
                <a:latin typeface="Arial"/>
              </a:rPr>
              <a:t>각 출처 조건</a:t>
            </a:r>
          </a:p>
        </p:txBody>
      </p:sp>
      <p:sp>
        <p:nvSpPr>
          <p:cNvPr id="325" name="Rectangle 324"/>
          <p:cNvSpPr/>
          <p:nvPr/>
        </p:nvSpPr>
        <p:spPr>
          <a:xfrm>
            <a:off x="6236208" y="4604004"/>
            <a:ext cx="5349240" cy="9144"/>
          </a:xfrm>
          <a:prstGeom prst="rect">
            <a:avLst/>
          </a:prstGeom>
          <a:solidFill>
            <a:srgbClr val="CD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TextBox 325"/>
          <p:cNvSpPr txBox="1"/>
          <p:nvPr/>
        </p:nvSpPr>
        <p:spPr>
          <a:xfrm>
            <a:off x="6309360" y="4604004"/>
            <a:ext cx="2459736" cy="406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75" b="0">
                <a:solidFill>
                  <a:srgbClr val="162340"/>
                </a:solidFill>
                <a:latin typeface="Arial"/>
              </a:rPr>
              <a:t>금감원 공개 녹음 전사(KorCCVi)</a:t>
            </a:r>
          </a:p>
        </p:txBody>
      </p:sp>
      <p:sp>
        <p:nvSpPr>
          <p:cNvPr id="327" name="TextBox 326"/>
          <p:cNvSpPr txBox="1"/>
          <p:nvPr/>
        </p:nvSpPr>
        <p:spPr>
          <a:xfrm>
            <a:off x="8915400" y="4604004"/>
            <a:ext cx="1636776" cy="406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75" b="0">
                <a:solidFill>
                  <a:srgbClr val="162340"/>
                </a:solidFill>
                <a:latin typeface="Arial"/>
              </a:rPr>
              <a:t>요약 색인, 검색 결과 제외</a:t>
            </a:r>
          </a:p>
        </p:txBody>
      </p:sp>
      <p:sp>
        <p:nvSpPr>
          <p:cNvPr id="328" name="TextBox 327"/>
          <p:cNvSpPr txBox="1"/>
          <p:nvPr/>
        </p:nvSpPr>
        <p:spPr>
          <a:xfrm>
            <a:off x="10698480" y="4604004"/>
            <a:ext cx="813816" cy="406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75" b="0">
                <a:solidFill>
                  <a:srgbClr val="162340"/>
                </a:solidFill>
                <a:latin typeface="Arial"/>
              </a:rPr>
              <a:t>재배포 금지</a:t>
            </a:r>
          </a:p>
        </p:txBody>
      </p:sp>
      <p:sp>
        <p:nvSpPr>
          <p:cNvPr id="329" name="Rectangle 328"/>
          <p:cNvSpPr/>
          <p:nvPr/>
        </p:nvSpPr>
        <p:spPr>
          <a:xfrm>
            <a:off x="6236208" y="5010912"/>
            <a:ext cx="5349240" cy="9144"/>
          </a:xfrm>
          <a:prstGeom prst="rect">
            <a:avLst/>
          </a:prstGeom>
          <a:solidFill>
            <a:srgbClr val="CD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TextBox 329"/>
          <p:cNvSpPr txBox="1"/>
          <p:nvPr/>
        </p:nvSpPr>
        <p:spPr>
          <a:xfrm>
            <a:off x="6309360" y="5010912"/>
            <a:ext cx="2459736" cy="406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75" b="0">
                <a:solidFill>
                  <a:srgbClr val="162340"/>
                </a:solidFill>
                <a:latin typeface="Arial"/>
              </a:rPr>
              <a:t>금감원·금융위 경보, 매일신문 보도</a:t>
            </a:r>
          </a:p>
        </p:txBody>
      </p:sp>
      <p:sp>
        <p:nvSpPr>
          <p:cNvPr id="331" name="TextBox 330"/>
          <p:cNvSpPr txBox="1"/>
          <p:nvPr/>
        </p:nvSpPr>
        <p:spPr>
          <a:xfrm>
            <a:off x="8915400" y="5010912"/>
            <a:ext cx="1636776" cy="406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75" b="0">
                <a:solidFill>
                  <a:srgbClr val="162340"/>
                </a:solidFill>
                <a:latin typeface="Arial"/>
              </a:rPr>
              <a:t>홈 화면 사기 동향</a:t>
            </a:r>
          </a:p>
        </p:txBody>
      </p:sp>
      <p:sp>
        <p:nvSpPr>
          <p:cNvPr id="332" name="TextBox 331"/>
          <p:cNvSpPr txBox="1"/>
          <p:nvPr/>
        </p:nvSpPr>
        <p:spPr>
          <a:xfrm>
            <a:off x="10698480" y="5010912"/>
            <a:ext cx="813816" cy="406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75" b="0">
                <a:solidFill>
                  <a:srgbClr val="162340"/>
                </a:solidFill>
                <a:latin typeface="Arial"/>
              </a:rPr>
              <a:t>출처 표시 인용</a:t>
            </a:r>
          </a:p>
        </p:txBody>
      </p:sp>
      <p:sp>
        <p:nvSpPr>
          <p:cNvPr id="333" name="Rectangle 332"/>
          <p:cNvSpPr/>
          <p:nvPr/>
        </p:nvSpPr>
        <p:spPr>
          <a:xfrm>
            <a:off x="6236208" y="5417820"/>
            <a:ext cx="5349240" cy="9144"/>
          </a:xfrm>
          <a:prstGeom prst="rect">
            <a:avLst/>
          </a:prstGeom>
          <a:solidFill>
            <a:srgbClr val="CD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TextBox 333"/>
          <p:cNvSpPr txBox="1"/>
          <p:nvPr/>
        </p:nvSpPr>
        <p:spPr>
          <a:xfrm>
            <a:off x="6309360" y="5417820"/>
            <a:ext cx="2459736" cy="406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75" b="0">
                <a:solidFill>
                  <a:srgbClr val="162340"/>
                </a:solidFill>
                <a:latin typeface="Arial"/>
              </a:rPr>
              <a:t>사전 보유: index.html, css/, js/, assets/</a:t>
            </a:r>
          </a:p>
        </p:txBody>
      </p:sp>
      <p:sp>
        <p:nvSpPr>
          <p:cNvPr id="335" name="TextBox 334"/>
          <p:cNvSpPr txBox="1"/>
          <p:nvPr/>
        </p:nvSpPr>
        <p:spPr>
          <a:xfrm>
            <a:off x="8915400" y="5417820"/>
            <a:ext cx="1636776" cy="406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75" b="0">
                <a:solidFill>
                  <a:srgbClr val="162340"/>
                </a:solidFill>
                <a:latin typeface="Arial"/>
              </a:rPr>
              <a:t>10-30 01시경 작성, 주제 공개 전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10698480" y="5417820"/>
            <a:ext cx="813816" cy="406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75" b="0">
                <a:solidFill>
                  <a:srgbClr val="162340"/>
                </a:solidFill>
                <a:latin typeface="Arial"/>
              </a:rPr>
              <a:t>팀 자체 작성</a:t>
            </a:r>
          </a:p>
        </p:txBody>
      </p:sp>
      <p:sp>
        <p:nvSpPr>
          <p:cNvPr id="337" name="Rectangle 336"/>
          <p:cNvSpPr/>
          <p:nvPr/>
        </p:nvSpPr>
        <p:spPr>
          <a:xfrm>
            <a:off x="6236208" y="5824728"/>
            <a:ext cx="5349240" cy="9144"/>
          </a:xfrm>
          <a:prstGeom prst="rect">
            <a:avLst/>
          </a:prstGeom>
          <a:solidFill>
            <a:srgbClr val="CD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TextBox 337"/>
          <p:cNvSpPr txBox="1"/>
          <p:nvPr/>
        </p:nvSpPr>
        <p:spPr>
          <a:xfrm>
            <a:off x="612648" y="5897880"/>
            <a:ext cx="10972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0">
                <a:solidFill>
                  <a:srgbClr val="677086"/>
                </a:solidFill>
                <a:latin typeface="Arial"/>
              </a:rPr>
              <a:t>버전은 제출 환경 설치 버전 기준. 검색 서버 라이브러리는 infra/es-server의 requirements.txt 참고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7"/>
          <p:cNvSpPr/>
          <p:nvPr/>
        </p:nvSpPr>
        <p:spPr>
          <a:xfrm>
            <a:off x="609600" y="238125"/>
            <a:ext cx="9048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0047AB"/>
                </a:solidFill>
                <a:latin typeface="Arial"/>
                <a:ea typeface="Arial"/>
                <a:cs typeface="Arial"/>
                <a:sym typeface="Arial"/>
              </a:rPr>
              <a:t>09  기대 효과와 실제 적용 가능성</a:t>
            </a:r>
            <a:endParaRPr/>
          </a:p>
        </p:txBody>
      </p:sp>
      <p:sp>
        <p:nvSpPr>
          <p:cNvPr id="288" name="Google Shape;288;p17"/>
          <p:cNvSpPr/>
          <p:nvPr/>
        </p:nvSpPr>
        <p:spPr>
          <a:xfrm>
            <a:off x="609600" y="723900"/>
            <a:ext cx="10972800" cy="9525"/>
          </a:xfrm>
          <a:prstGeom prst="rect">
            <a:avLst/>
          </a:prstGeom>
          <a:solidFill>
            <a:srgbClr val="CDDA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9" name="Google Shape;28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2090" y="190500"/>
            <a:ext cx="1141369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17"/>
          <p:cNvSpPr/>
          <p:nvPr/>
        </p:nvSpPr>
        <p:spPr>
          <a:xfrm>
            <a:off x="609600" y="847725"/>
            <a:ext cx="109061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할 수 있는 것과 아직 모르는 것을 나눠 말합니다</a:t>
            </a:r>
            <a:endParaRPr/>
          </a:p>
        </p:txBody>
      </p:sp>
      <p:sp>
        <p:nvSpPr>
          <p:cNvPr id="291" name="Google Shape;291;p17"/>
          <p:cNvSpPr/>
          <p:nvPr/>
        </p:nvSpPr>
        <p:spPr>
          <a:xfrm>
            <a:off x="609600" y="6229350"/>
            <a:ext cx="10972800" cy="9525"/>
          </a:xfrm>
          <a:prstGeom prst="rect">
            <a:avLst/>
          </a:prstGeom>
          <a:solidFill>
            <a:srgbClr val="CDDA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2" name="Google Shape;29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4363" y="6200775"/>
            <a:ext cx="942975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7"/>
          <p:cNvSpPr/>
          <p:nvPr/>
        </p:nvSpPr>
        <p:spPr>
          <a:xfrm>
            <a:off x="1752600" y="6429375"/>
            <a:ext cx="85725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677086"/>
                </a:solidFill>
                <a:latin typeface="Arial"/>
                <a:ea typeface="Arial"/>
                <a:cs typeface="Arial"/>
                <a:sym typeface="Arial"/>
              </a:rPr>
              <a:t>팀 유레카 | 유상우 · 김동현 · 김병국 · 김호연 · 전선형</a:t>
            </a:r>
            <a:endParaRPr/>
          </a:p>
        </p:txBody>
      </p:sp>
      <p:sp>
        <p:nvSpPr>
          <p:cNvPr id="294" name="Google Shape;294;p17"/>
          <p:cNvSpPr/>
          <p:nvPr/>
        </p:nvSpPr>
        <p:spPr>
          <a:xfrm>
            <a:off x="11106150" y="6362700"/>
            <a:ext cx="476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677086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/>
          </a:p>
        </p:txBody>
      </p:sp>
      <p:sp>
        <p:nvSpPr>
          <p:cNvPr id="295" name="TextBox 294"/>
          <p:cNvSpPr txBox="1"/>
          <p:nvPr/>
        </p:nvSpPr>
        <p:spPr>
          <a:xfrm>
            <a:off x="612648" y="1536192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0047AB"/>
                </a:solidFill>
                <a:latin typeface="Arial"/>
              </a:rPr>
              <a:t>기대 효과</a:t>
            </a:r>
          </a:p>
        </p:txBody>
      </p:sp>
      <p:sp>
        <p:nvSpPr>
          <p:cNvPr id="296" name="Rounded Rectangle 295"/>
          <p:cNvSpPr/>
          <p:nvPr/>
        </p:nvSpPr>
        <p:spPr>
          <a:xfrm>
            <a:off x="612648" y="1901952"/>
            <a:ext cx="4343400" cy="658368"/>
          </a:xfrm>
          <a:prstGeom prst="roundRect">
            <a:avLst>
              <a:gd name="adj" fmla="val 14583"/>
            </a:avLst>
          </a:prstGeom>
          <a:solidFill>
            <a:srgbClr val="ED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TextBox 296"/>
          <p:cNvSpPr txBox="1"/>
          <p:nvPr/>
        </p:nvSpPr>
        <p:spPr>
          <a:xfrm>
            <a:off x="777240" y="1901952"/>
            <a:ext cx="40233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62340"/>
                </a:solidFill>
                <a:latin typeface="Arial"/>
              </a:rPr>
              <a:t>혼자 판단하는 상태를 끊음</a:t>
            </a:r>
          </a:p>
          <a:p>
            <a:r>
              <a:rPr sz="1200" b="0">
                <a:solidFill>
                  <a:srgbClr val="162340"/>
                </a:solidFill>
                <a:latin typeface="Arial"/>
              </a:rPr>
              <a:t>경고, 112 연결, 가족 확인을 한 흐름으로</a:t>
            </a:r>
          </a:p>
        </p:txBody>
      </p:sp>
      <p:sp>
        <p:nvSpPr>
          <p:cNvPr id="298" name="Rounded Rectangle 297"/>
          <p:cNvSpPr/>
          <p:nvPr/>
        </p:nvSpPr>
        <p:spPr>
          <a:xfrm>
            <a:off x="612648" y="2633472"/>
            <a:ext cx="4343400" cy="658368"/>
          </a:xfrm>
          <a:prstGeom prst="roundRect">
            <a:avLst>
              <a:gd name="adj" fmla="val 14583"/>
            </a:avLst>
          </a:prstGeom>
          <a:solidFill>
            <a:srgbClr val="ED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TextBox 298"/>
          <p:cNvSpPr txBox="1"/>
          <p:nvPr/>
        </p:nvSpPr>
        <p:spPr>
          <a:xfrm>
            <a:off x="777240" y="2633472"/>
            <a:ext cx="40233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62340"/>
                </a:solidFill>
                <a:latin typeface="Arial"/>
              </a:rPr>
              <a:t>이체 경로를 시간으로 지연</a:t>
            </a:r>
          </a:p>
          <a:p>
            <a:r>
              <a:rPr sz="1200" b="0">
                <a:solidFill>
                  <a:srgbClr val="162340"/>
                </a:solidFill>
                <a:latin typeface="Arial"/>
              </a:rPr>
              <a:t>금융 앱을 잠가 생각할 시간을 확보</a:t>
            </a:r>
          </a:p>
        </p:txBody>
      </p:sp>
      <p:sp>
        <p:nvSpPr>
          <p:cNvPr id="300" name="Rounded Rectangle 299"/>
          <p:cNvSpPr/>
          <p:nvPr/>
        </p:nvSpPr>
        <p:spPr>
          <a:xfrm>
            <a:off x="612648" y="3364991"/>
            <a:ext cx="4343400" cy="658368"/>
          </a:xfrm>
          <a:prstGeom prst="roundRect">
            <a:avLst>
              <a:gd name="adj" fmla="val 14583"/>
            </a:avLst>
          </a:prstGeom>
          <a:solidFill>
            <a:srgbClr val="ED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TextBox 300"/>
          <p:cNvSpPr txBox="1"/>
          <p:nvPr/>
        </p:nvSpPr>
        <p:spPr>
          <a:xfrm>
            <a:off x="777240" y="3364991"/>
            <a:ext cx="40233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62340"/>
                </a:solidFill>
                <a:latin typeface="Arial"/>
              </a:rPr>
              <a:t>사생활을 지키는 가족 보호</a:t>
            </a:r>
          </a:p>
          <a:p>
            <a:r>
              <a:rPr sz="1200" b="0">
                <a:solidFill>
                  <a:srgbClr val="162340"/>
                </a:solidFill>
                <a:latin typeface="Arial"/>
              </a:rPr>
              <a:t>통화 내용 없이 의심 여부만 공유</a:t>
            </a:r>
          </a:p>
        </p:txBody>
      </p:sp>
      <p:sp>
        <p:nvSpPr>
          <p:cNvPr id="302" name="Rounded Rectangle 301"/>
          <p:cNvSpPr/>
          <p:nvPr/>
        </p:nvSpPr>
        <p:spPr>
          <a:xfrm>
            <a:off x="612648" y="4096511"/>
            <a:ext cx="4343400" cy="658368"/>
          </a:xfrm>
          <a:prstGeom prst="roundRect">
            <a:avLst>
              <a:gd name="adj" fmla="val 14583"/>
            </a:avLst>
          </a:prstGeom>
          <a:solidFill>
            <a:srgbClr val="ED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TextBox 302"/>
          <p:cNvSpPr txBox="1"/>
          <p:nvPr/>
        </p:nvSpPr>
        <p:spPr>
          <a:xfrm>
            <a:off x="777240" y="4096511"/>
            <a:ext cx="40233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62340"/>
                </a:solidFill>
                <a:latin typeface="Arial"/>
              </a:rPr>
              <a:t>AI 음성에 대응하는 습관</a:t>
            </a:r>
          </a:p>
          <a:p>
            <a:r>
              <a:rPr sz="1200" b="0">
                <a:solidFill>
                  <a:srgbClr val="162340"/>
                </a:solidFill>
                <a:latin typeface="Arial"/>
              </a:rPr>
              <a:t>목소리 대신 암구호로 확인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612648" y="4864608"/>
            <a:ext cx="43434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25" b="0">
                <a:solidFill>
                  <a:srgbClr val="677086"/>
                </a:solidFill>
                <a:latin typeface="Arial"/>
              </a:rPr>
              <a:t>평가셋은 Claude Code로 작성한 합성 통화이며 결과 확인 전에 고정했습니다. 95% 신뢰구간은 탐지율 88% 이상, 오탐률 12% 이하입니다. 기타 사기 8건은 설계상 알림·잠금이 없습니다.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5285232" y="1517904"/>
            <a:ext cx="419709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>
                <a:solidFill>
                  <a:srgbClr val="162340"/>
                </a:solidFill>
                <a:latin typeface="Arial"/>
              </a:rPr>
              <a:t>검증 항목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9628632" y="1517904"/>
            <a:ext cx="18836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>
                <a:solidFill>
                  <a:srgbClr val="162340"/>
                </a:solidFill>
                <a:latin typeface="Arial"/>
              </a:rPr>
              <a:t>상태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5212080" y="1847088"/>
            <a:ext cx="6373368" cy="9144"/>
          </a:xfrm>
          <a:prstGeom prst="rect">
            <a:avLst/>
          </a:prstGeom>
          <a:solidFill>
            <a:srgbClr val="CD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TextBox 307"/>
          <p:cNvSpPr txBox="1"/>
          <p:nvPr/>
        </p:nvSpPr>
        <p:spPr>
          <a:xfrm>
            <a:off x="5285232" y="1847088"/>
            <a:ext cx="419709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0">
                <a:solidFill>
                  <a:srgbClr val="162340"/>
                </a:solidFill>
                <a:latin typeface="Arial"/>
              </a:rPr>
              <a:t>녹음 → STT → 판정 → 경고 → 잠금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9628632" y="1847088"/>
            <a:ext cx="188366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0">
                <a:solidFill>
                  <a:srgbClr val="162340"/>
                </a:solidFill>
                <a:latin typeface="Arial"/>
              </a:rPr>
              <a:t>실제 폰에서 확인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5212080" y="2267712"/>
            <a:ext cx="6373368" cy="9144"/>
          </a:xfrm>
          <a:prstGeom prst="rect">
            <a:avLst/>
          </a:prstGeom>
          <a:solidFill>
            <a:srgbClr val="CD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TextBox 310"/>
          <p:cNvSpPr txBox="1"/>
          <p:nvPr/>
        </p:nvSpPr>
        <p:spPr>
          <a:xfrm>
            <a:off x="5285232" y="2267712"/>
            <a:ext cx="419709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0">
                <a:solidFill>
                  <a:srgbClr val="162340"/>
                </a:solidFill>
                <a:latin typeface="Arial"/>
              </a:rPr>
              <a:t>가족 알림, 암구호, 제보, 피드백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9628632" y="2267712"/>
            <a:ext cx="188366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0">
                <a:solidFill>
                  <a:srgbClr val="162340"/>
                </a:solidFill>
                <a:latin typeface="Arial"/>
              </a:rPr>
              <a:t>테스트·브라우저 확인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5212080" y="2688336"/>
            <a:ext cx="6373368" cy="9144"/>
          </a:xfrm>
          <a:prstGeom prst="rect">
            <a:avLst/>
          </a:prstGeom>
          <a:solidFill>
            <a:srgbClr val="CD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TextBox 313"/>
          <p:cNvSpPr txBox="1"/>
          <p:nvPr/>
        </p:nvSpPr>
        <p:spPr>
          <a:xfrm>
            <a:off x="5285232" y="2688336"/>
            <a:ext cx="419709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0">
                <a:solidFill>
                  <a:srgbClr val="162340"/>
                </a:solidFill>
                <a:latin typeface="Arial"/>
              </a:rPr>
              <a:t>STT 5개 설정 비교 (합성 음성 20개)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9628632" y="2688336"/>
            <a:ext cx="188366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0">
                <a:solidFill>
                  <a:srgbClr val="162340"/>
                </a:solidFill>
                <a:latin typeface="Arial"/>
              </a:rPr>
              <a:t>turbo CER 3.33%, RTF 1.17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5212080" y="3108960"/>
            <a:ext cx="6373368" cy="9144"/>
          </a:xfrm>
          <a:prstGeom prst="rect">
            <a:avLst/>
          </a:prstGeom>
          <a:solidFill>
            <a:srgbClr val="CD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TextBox 316"/>
          <p:cNvSpPr txBox="1"/>
          <p:nvPr/>
        </p:nvSpPr>
        <p:spPr>
          <a:xfrm>
            <a:off x="5285232" y="3108960"/>
            <a:ext cx="419709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0">
                <a:solidFill>
                  <a:srgbClr val="162340"/>
                </a:solidFill>
                <a:latin typeface="Arial"/>
              </a:rPr>
              <a:t>실제 MP3 → 자체 STT → 판정 → 잠금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9628632" y="3108960"/>
            <a:ext cx="188366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0">
                <a:solidFill>
                  <a:srgbClr val="162340"/>
                </a:solidFill>
                <a:latin typeface="Arial"/>
              </a:rPr>
              <a:t>실서버 확인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5212080" y="3529584"/>
            <a:ext cx="6373368" cy="9144"/>
          </a:xfrm>
          <a:prstGeom prst="rect">
            <a:avLst/>
          </a:prstGeom>
          <a:solidFill>
            <a:srgbClr val="CD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TextBox 319"/>
          <p:cNvSpPr txBox="1"/>
          <p:nvPr/>
        </p:nvSpPr>
        <p:spPr>
          <a:xfrm>
            <a:off x="5285232" y="3529584"/>
            <a:ext cx="419709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0">
                <a:solidFill>
                  <a:srgbClr val="162340"/>
                </a:solidFill>
                <a:latin typeface="Arial"/>
              </a:rPr>
              <a:t>합성 사기 통화 30건 탐지</a:t>
            </a:r>
          </a:p>
        </p:txBody>
      </p:sp>
      <p:sp>
        <p:nvSpPr>
          <p:cNvPr id="321" name="TextBox 320"/>
          <p:cNvSpPr txBox="1"/>
          <p:nvPr/>
        </p:nvSpPr>
        <p:spPr>
          <a:xfrm>
            <a:off x="9628632" y="3529584"/>
            <a:ext cx="188366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0">
                <a:solidFill>
                  <a:srgbClr val="162340"/>
                </a:solidFill>
                <a:latin typeface="Arial"/>
              </a:rPr>
              <a:t>30건 (알림 22, 잠금 18)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5212080" y="3950208"/>
            <a:ext cx="6373368" cy="9144"/>
          </a:xfrm>
          <a:prstGeom prst="rect">
            <a:avLst/>
          </a:prstGeom>
          <a:solidFill>
            <a:srgbClr val="CD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TextBox 322"/>
          <p:cNvSpPr txBox="1"/>
          <p:nvPr/>
        </p:nvSpPr>
        <p:spPr>
          <a:xfrm>
            <a:off x="5285232" y="3950208"/>
            <a:ext cx="419709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0">
                <a:solidFill>
                  <a:srgbClr val="162340"/>
                </a:solidFill>
                <a:latin typeface="Arial"/>
              </a:rPr>
              <a:t>헷갈리는 합성 정상 통화 30건 오탐</a:t>
            </a:r>
          </a:p>
        </p:txBody>
      </p:sp>
      <p:sp>
        <p:nvSpPr>
          <p:cNvPr id="324" name="TextBox 323"/>
          <p:cNvSpPr txBox="1"/>
          <p:nvPr/>
        </p:nvSpPr>
        <p:spPr>
          <a:xfrm>
            <a:off x="9628632" y="3950208"/>
            <a:ext cx="188366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0">
                <a:solidFill>
                  <a:srgbClr val="162340"/>
                </a:solidFill>
                <a:latin typeface="Arial"/>
              </a:rPr>
              <a:t>0건 (알림·잠금 0)</a:t>
            </a:r>
          </a:p>
        </p:txBody>
      </p:sp>
      <p:sp>
        <p:nvSpPr>
          <p:cNvPr id="325" name="Rectangle 324"/>
          <p:cNvSpPr/>
          <p:nvPr/>
        </p:nvSpPr>
        <p:spPr>
          <a:xfrm>
            <a:off x="5212080" y="4370832"/>
            <a:ext cx="6373368" cy="9144"/>
          </a:xfrm>
          <a:prstGeom prst="rect">
            <a:avLst/>
          </a:prstGeom>
          <a:solidFill>
            <a:srgbClr val="CD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TextBox 325"/>
          <p:cNvSpPr txBox="1"/>
          <p:nvPr/>
        </p:nvSpPr>
        <p:spPr>
          <a:xfrm>
            <a:off x="5285232" y="4370832"/>
            <a:ext cx="419709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0">
                <a:solidFill>
                  <a:srgbClr val="162340"/>
                </a:solidFill>
                <a:latin typeface="Arial"/>
              </a:rPr>
              <a:t>사례 검색(RAG) 유무 비교</a:t>
            </a:r>
          </a:p>
        </p:txBody>
      </p:sp>
      <p:sp>
        <p:nvSpPr>
          <p:cNvPr id="327" name="TextBox 326"/>
          <p:cNvSpPr txBox="1"/>
          <p:nvPr/>
        </p:nvSpPr>
        <p:spPr>
          <a:xfrm>
            <a:off x="9628632" y="4370832"/>
            <a:ext cx="188366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0">
                <a:solidFill>
                  <a:srgbClr val="162340"/>
                </a:solidFill>
                <a:latin typeface="Arial"/>
              </a:rPr>
              <a:t>탐지·오탐 차이 없음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5212080" y="4791456"/>
            <a:ext cx="6373368" cy="9144"/>
          </a:xfrm>
          <a:prstGeom prst="rect">
            <a:avLst/>
          </a:prstGeom>
          <a:solidFill>
            <a:srgbClr val="CD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TextBox 328"/>
          <p:cNvSpPr txBox="1"/>
          <p:nvPr/>
        </p:nvSpPr>
        <p:spPr>
          <a:xfrm>
            <a:off x="5285232" y="4791456"/>
            <a:ext cx="419709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0">
                <a:solidFill>
                  <a:srgbClr val="162340"/>
                </a:solidFill>
                <a:latin typeface="Arial"/>
              </a:rPr>
              <a:t>실제 통화 성능, 실제 피해 감소 효과</a:t>
            </a:r>
          </a:p>
        </p:txBody>
      </p:sp>
      <p:sp>
        <p:nvSpPr>
          <p:cNvPr id="330" name="TextBox 329"/>
          <p:cNvSpPr txBox="1"/>
          <p:nvPr/>
        </p:nvSpPr>
        <p:spPr>
          <a:xfrm>
            <a:off x="9628632" y="4791456"/>
            <a:ext cx="188366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0">
                <a:solidFill>
                  <a:srgbClr val="162340"/>
                </a:solidFill>
                <a:latin typeface="Arial"/>
              </a:rPr>
              <a:t>미측정</a:t>
            </a:r>
          </a:p>
        </p:txBody>
      </p:sp>
      <p:sp>
        <p:nvSpPr>
          <p:cNvPr id="331" name="Rectangle 330"/>
          <p:cNvSpPr/>
          <p:nvPr/>
        </p:nvSpPr>
        <p:spPr>
          <a:xfrm>
            <a:off x="5212080" y="5212080"/>
            <a:ext cx="6373368" cy="9144"/>
          </a:xfrm>
          <a:prstGeom prst="rect">
            <a:avLst/>
          </a:prstGeom>
          <a:solidFill>
            <a:srgbClr val="CD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TextBox 331"/>
          <p:cNvSpPr txBox="1"/>
          <p:nvPr/>
        </p:nvSpPr>
        <p:spPr>
          <a:xfrm>
            <a:off x="5212080" y="5303520"/>
            <a:ext cx="6373368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25" b="0">
                <a:solidFill>
                  <a:srgbClr val="677086"/>
                </a:solidFill>
                <a:latin typeface="Arial"/>
              </a:rPr>
              <a:t>제약: 삼성 통화 녹음만 지원, 인터넷 전화 제외, 접근성 권한을 끄면 잠금 불가. 현재 시연 서버는 분석 뒤에도 음성을 보관하며, 사용자가 기록을 지우면 함께 삭제합니다.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8"/>
          <p:cNvSpPr/>
          <p:nvPr/>
        </p:nvSpPr>
        <p:spPr>
          <a:xfrm>
            <a:off x="609600" y="238125"/>
            <a:ext cx="9048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0047AB"/>
                </a:solidFill>
                <a:latin typeface="Arial"/>
                <a:ea typeface="Arial"/>
                <a:cs typeface="Arial"/>
                <a:sym typeface="Arial"/>
              </a:rPr>
              <a:t>10  확장 가능성</a:t>
            </a:r>
            <a:endParaRPr/>
          </a:p>
        </p:txBody>
      </p:sp>
      <p:sp>
        <p:nvSpPr>
          <p:cNvPr id="314" name="Google Shape;314;p18"/>
          <p:cNvSpPr/>
          <p:nvPr/>
        </p:nvSpPr>
        <p:spPr>
          <a:xfrm>
            <a:off x="609600" y="723900"/>
            <a:ext cx="10972800" cy="9525"/>
          </a:xfrm>
          <a:prstGeom prst="rect">
            <a:avLst/>
          </a:prstGeom>
          <a:solidFill>
            <a:srgbClr val="CDDA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5" name="Google Shape;31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2090" y="190500"/>
            <a:ext cx="1141369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18"/>
          <p:cNvSpPr/>
          <p:nvPr/>
        </p:nvSpPr>
        <p:spPr>
          <a:xfrm>
            <a:off x="609600" y="847725"/>
            <a:ext cx="109061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시연용 프로토타입에서 실제 서비스까지의 순서</a:t>
            </a:r>
            <a:endParaRPr/>
          </a:p>
        </p:txBody>
      </p:sp>
      <p:sp>
        <p:nvSpPr>
          <p:cNvPr id="317" name="Google Shape;317;p18"/>
          <p:cNvSpPr/>
          <p:nvPr/>
        </p:nvSpPr>
        <p:spPr>
          <a:xfrm>
            <a:off x="609600" y="6229350"/>
            <a:ext cx="10972800" cy="9525"/>
          </a:xfrm>
          <a:prstGeom prst="rect">
            <a:avLst/>
          </a:prstGeom>
          <a:solidFill>
            <a:srgbClr val="CDDA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8" name="Google Shape;31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4363" y="6200775"/>
            <a:ext cx="942975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8"/>
          <p:cNvSpPr/>
          <p:nvPr/>
        </p:nvSpPr>
        <p:spPr>
          <a:xfrm>
            <a:off x="1752600" y="6429375"/>
            <a:ext cx="85725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677086"/>
                </a:solidFill>
                <a:latin typeface="Arial"/>
                <a:ea typeface="Arial"/>
                <a:cs typeface="Arial"/>
                <a:sym typeface="Arial"/>
              </a:rPr>
              <a:t>팀 유레카 | 유상우 · 김동현 · 김병국 · 김호연 · 전선형</a:t>
            </a:r>
            <a:endParaRPr/>
          </a:p>
        </p:txBody>
      </p:sp>
      <p:sp>
        <p:nvSpPr>
          <p:cNvPr id="320" name="Google Shape;320;p18"/>
          <p:cNvSpPr/>
          <p:nvPr/>
        </p:nvSpPr>
        <p:spPr>
          <a:xfrm>
            <a:off x="11106150" y="6362700"/>
            <a:ext cx="476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677086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321" name="Rounded Rectangle 320"/>
          <p:cNvSpPr/>
          <p:nvPr/>
        </p:nvSpPr>
        <p:spPr>
          <a:xfrm>
            <a:off x="612648" y="1572768"/>
            <a:ext cx="3566160" cy="3127248"/>
          </a:xfrm>
          <a:prstGeom prst="roundRect">
            <a:avLst>
              <a:gd name="adj" fmla="val 3070"/>
            </a:avLst>
          </a:prstGeom>
          <a:solidFill>
            <a:srgbClr val="DF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TextBox 321"/>
          <p:cNvSpPr txBox="1"/>
          <p:nvPr/>
        </p:nvSpPr>
        <p:spPr>
          <a:xfrm>
            <a:off x="813816" y="1728216"/>
            <a:ext cx="31638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25" b="1">
                <a:solidFill>
                  <a:srgbClr val="0047AB"/>
                </a:solidFill>
                <a:latin typeface="Arial"/>
              </a:rPr>
              <a:t>1단계 · 출시 후 3개월까지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813816" y="2020824"/>
            <a:ext cx="31638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>
                <a:solidFill>
                  <a:srgbClr val="162340"/>
                </a:solidFill>
                <a:latin typeface="Arial"/>
              </a:rPr>
              <a:t>안전하게 운영</a:t>
            </a:r>
          </a:p>
        </p:txBody>
      </p:sp>
      <p:sp>
        <p:nvSpPr>
          <p:cNvPr id="324" name="TextBox 323"/>
          <p:cNvSpPr txBox="1"/>
          <p:nvPr/>
        </p:nvSpPr>
        <p:spPr>
          <a:xfrm>
            <a:off x="813816" y="2459736"/>
            <a:ext cx="3163824" cy="2148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62340"/>
                </a:solidFill>
                <a:latin typeface="Arial"/>
              </a:rPr>
              <a:t>서버 HTTPS 전환, 음성 저장소 국내 리전 이전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62340"/>
                </a:solidFill>
                <a:latin typeface="Arial"/>
              </a:rPr>
              <a:t>FCM으로 가족 알림 지연 해소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62340"/>
                </a:solidFill>
                <a:latin typeface="Arial"/>
              </a:rPr>
              <a:t>Play 접근성 정책 심사 대응</a:t>
            </a:r>
          </a:p>
        </p:txBody>
      </p:sp>
      <p:sp>
        <p:nvSpPr>
          <p:cNvPr id="325" name="TextBox 324"/>
          <p:cNvSpPr txBox="1"/>
          <p:nvPr/>
        </p:nvSpPr>
        <p:spPr>
          <a:xfrm>
            <a:off x="813816" y="4114800"/>
            <a:ext cx="31638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0047AB"/>
                </a:solidFill>
                <a:latin typeface="Arial"/>
              </a:rPr>
              <a:t>목표  </a:t>
            </a:r>
            <a:r>
              <a:rPr sz="1300" b="1">
                <a:solidFill>
                  <a:srgbClr val="162340"/>
                </a:solidFill>
                <a:latin typeface="Arial"/>
              </a:rPr>
              <a:t>심사 통과, 베타 100가족</a:t>
            </a:r>
          </a:p>
        </p:txBody>
      </p:sp>
      <p:sp>
        <p:nvSpPr>
          <p:cNvPr id="326" name="Rounded Rectangle 325"/>
          <p:cNvSpPr/>
          <p:nvPr/>
        </p:nvSpPr>
        <p:spPr>
          <a:xfrm>
            <a:off x="4315968" y="1572768"/>
            <a:ext cx="3566160" cy="3127248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9525">
            <a:solidFill>
              <a:srgbClr val="CDDA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TextBox 326"/>
          <p:cNvSpPr txBox="1"/>
          <p:nvPr/>
        </p:nvSpPr>
        <p:spPr>
          <a:xfrm>
            <a:off x="4517136" y="1728216"/>
            <a:ext cx="31638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25" b="1">
                <a:solidFill>
                  <a:srgbClr val="0047AB"/>
                </a:solidFill>
                <a:latin typeface="Arial"/>
              </a:rPr>
              <a:t>2단계 · 6개월까지</a:t>
            </a:r>
          </a:p>
        </p:txBody>
      </p:sp>
      <p:sp>
        <p:nvSpPr>
          <p:cNvPr id="328" name="TextBox 327"/>
          <p:cNvSpPr txBox="1"/>
          <p:nvPr/>
        </p:nvSpPr>
        <p:spPr>
          <a:xfrm>
            <a:off x="4517136" y="2020824"/>
            <a:ext cx="31638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>
                <a:solidFill>
                  <a:srgbClr val="162340"/>
                </a:solidFill>
                <a:latin typeface="Arial"/>
              </a:rPr>
              <a:t>평가하고 보정</a:t>
            </a:r>
          </a:p>
        </p:txBody>
      </p:sp>
      <p:sp>
        <p:nvSpPr>
          <p:cNvPr id="329" name="TextBox 328"/>
          <p:cNvSpPr txBox="1"/>
          <p:nvPr/>
        </p:nvSpPr>
        <p:spPr>
          <a:xfrm>
            <a:off x="4517136" y="2459736"/>
            <a:ext cx="3163824" cy="2148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62340"/>
                </a:solidFill>
                <a:latin typeface="Arial"/>
              </a:rPr>
              <a:t>실제 통화 라벨 500건으로 탐지율·오탐률 재측정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62340"/>
                </a:solidFill>
                <a:latin typeface="Arial"/>
              </a:rPr>
              <a:t>확신도 보정, RAG 유무 비교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62340"/>
                </a:solidFill>
                <a:latin typeface="Arial"/>
              </a:rPr>
              <a:t>GPU 서빙으로 대체 경로 축소</a:t>
            </a:r>
          </a:p>
        </p:txBody>
      </p:sp>
      <p:sp>
        <p:nvSpPr>
          <p:cNvPr id="330" name="TextBox 329"/>
          <p:cNvSpPr txBox="1"/>
          <p:nvPr/>
        </p:nvSpPr>
        <p:spPr>
          <a:xfrm>
            <a:off x="4517136" y="4114800"/>
            <a:ext cx="31638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0047AB"/>
                </a:solidFill>
                <a:latin typeface="Arial"/>
              </a:rPr>
              <a:t>목표  </a:t>
            </a:r>
            <a:r>
              <a:rPr sz="1300" b="1">
                <a:solidFill>
                  <a:srgbClr val="162340"/>
                </a:solidFill>
                <a:latin typeface="Arial"/>
              </a:rPr>
              <a:t>탐지율 90%, 오탐률 5% 이하</a:t>
            </a:r>
          </a:p>
        </p:txBody>
      </p:sp>
      <p:sp>
        <p:nvSpPr>
          <p:cNvPr id="331" name="Rounded Rectangle 330"/>
          <p:cNvSpPr/>
          <p:nvPr/>
        </p:nvSpPr>
        <p:spPr>
          <a:xfrm>
            <a:off x="8019288" y="1572768"/>
            <a:ext cx="3566160" cy="3127248"/>
          </a:xfrm>
          <a:prstGeom prst="roundRect">
            <a:avLst>
              <a:gd name="adj" fmla="val 3070"/>
            </a:avLst>
          </a:prstGeom>
          <a:solidFill>
            <a:srgbClr val="ED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TextBox 331"/>
          <p:cNvSpPr txBox="1"/>
          <p:nvPr/>
        </p:nvSpPr>
        <p:spPr>
          <a:xfrm>
            <a:off x="8220456" y="1728216"/>
            <a:ext cx="31638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25" b="1">
                <a:solidFill>
                  <a:srgbClr val="0047AB"/>
                </a:solidFill>
                <a:latin typeface="Arial"/>
              </a:rPr>
              <a:t>3단계 · 12개월까지</a:t>
            </a:r>
          </a:p>
        </p:txBody>
      </p:sp>
      <p:sp>
        <p:nvSpPr>
          <p:cNvPr id="333" name="TextBox 332"/>
          <p:cNvSpPr txBox="1"/>
          <p:nvPr/>
        </p:nvSpPr>
        <p:spPr>
          <a:xfrm>
            <a:off x="8220456" y="2020824"/>
            <a:ext cx="31638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>
                <a:solidFill>
                  <a:srgbClr val="162340"/>
                </a:solidFill>
                <a:latin typeface="Arial"/>
              </a:rPr>
              <a:t>제휴로 앞단 연결</a:t>
            </a:r>
          </a:p>
        </p:txBody>
      </p:sp>
      <p:sp>
        <p:nvSpPr>
          <p:cNvPr id="334" name="TextBox 333"/>
          <p:cNvSpPr txBox="1"/>
          <p:nvPr/>
        </p:nvSpPr>
        <p:spPr>
          <a:xfrm>
            <a:off x="8220456" y="2459736"/>
            <a:ext cx="3163824" cy="2148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62340"/>
                </a:solidFill>
                <a:latin typeface="Arial"/>
              </a:rPr>
              <a:t>제조사·통신사 실시간 탐지와 연동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62340"/>
                </a:solidFill>
                <a:latin typeface="Arial"/>
              </a:rPr>
              <a:t>금융사 연계로 앱 차단 대신 이체 지연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62340"/>
                </a:solidFill>
                <a:latin typeface="Arial"/>
              </a:rPr>
              <a:t>삼성 외 녹음 환경 지원</a:t>
            </a:r>
          </a:p>
        </p:txBody>
      </p:sp>
      <p:sp>
        <p:nvSpPr>
          <p:cNvPr id="335" name="TextBox 334"/>
          <p:cNvSpPr txBox="1"/>
          <p:nvPr/>
        </p:nvSpPr>
        <p:spPr>
          <a:xfrm>
            <a:off x="8220456" y="4114800"/>
            <a:ext cx="31638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0047AB"/>
                </a:solidFill>
                <a:latin typeface="Arial"/>
              </a:rPr>
              <a:t>목표  </a:t>
            </a:r>
            <a:r>
              <a:rPr sz="1300" b="1">
                <a:solidFill>
                  <a:srgbClr val="162340"/>
                </a:solidFill>
                <a:latin typeface="Arial"/>
              </a:rPr>
              <a:t>제휴 1곳, 1만 가족</a:t>
            </a:r>
          </a:p>
        </p:txBody>
      </p:sp>
      <p:pic>
        <p:nvPicPr>
          <p:cNvPr id="336" name="Picture 335" descr="CodySafe 마스코트 코디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6768" y="4828032"/>
            <a:ext cx="868680" cy="859536"/>
          </a:xfrm>
          <a:prstGeom prst="rect">
            <a:avLst/>
          </a:prstGeom>
        </p:spPr>
      </p:pic>
      <p:sp>
        <p:nvSpPr>
          <p:cNvPr id="337" name="TextBox 336"/>
          <p:cNvSpPr txBox="1"/>
          <p:nvPr/>
        </p:nvSpPr>
        <p:spPr>
          <a:xfrm>
            <a:off x="612648" y="4864608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>
                <a:solidFill>
                  <a:srgbClr val="0047AB"/>
                </a:solidFill>
                <a:latin typeface="Arial"/>
              </a:rPr>
              <a:t>탐지 다음에 무엇을 할 것인가. CodySafe는 그 답을 가족과 함께 만듭니다.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612648" y="5358384"/>
            <a:ext cx="9966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25" b="0">
                <a:solidFill>
                  <a:srgbClr val="677086"/>
                </a:solidFill>
                <a:latin typeface="Arial"/>
              </a:rPr>
              <a:t>에이닷 전화·피싱아이즈는 가족 알림을 제공하나, 금융 앱 잠금과 암구호까지 잇는 서비스는 공개 자료에서 찾지 못했습니다(2026-11). 기간과 수치는 팀 목표입니다.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CodySafe 발표자료 (유레카) v2</dc:title>
  <cp:lastModifiedBy>python-pptx</cp:lastModifiedBy>
  <cp:revision>1</cp:revision>
  <dcterms:modified xsi:type="dcterms:W3CDTF">2026-11-01T01:59:54Z</dcterms:modified>
</cp:coreProperties>
</file>